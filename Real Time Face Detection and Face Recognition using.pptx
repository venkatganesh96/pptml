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8/22/2022</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8/22/2022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8/22/2022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8/22/2022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8/22/2022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8/22/2022</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8/22/2022</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8/22/2022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8/22/2022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8/22/2022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8/22/2022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8/22/2022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8/22/2022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8/22/2022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8/22/2022</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8/22/2022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8/22/2022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8/22/2022</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5" Type="http://schemas.openxmlformats.org/officeDocument/2006/relationships/image" Target="../media/image26.emf"/><Relationship Id="rId4" Type="http://schemas.openxmlformats.org/officeDocument/2006/relationships/image" Target="../media/image25.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1ED7D-EE3B-2F60-77E4-94A84471937D}"/>
              </a:ext>
            </a:extLst>
          </p:cNvPr>
          <p:cNvSpPr>
            <a:spLocks noGrp="1"/>
          </p:cNvSpPr>
          <p:nvPr>
            <p:ph type="ctrTitle"/>
          </p:nvPr>
        </p:nvSpPr>
        <p:spPr/>
        <p:txBody>
          <a:bodyPr/>
          <a:lstStyle/>
          <a:p>
            <a:pPr algn="ctr"/>
            <a:r>
              <a:rPr lang="en-IN" dirty="0">
                <a:solidFill>
                  <a:schemeClr val="accent4">
                    <a:lumMod val="60000"/>
                    <a:lumOff val="40000"/>
                  </a:schemeClr>
                </a:solidFill>
              </a:rPr>
              <a:t>Real Time Face Detection and Face Recognition using OpenCV and Python</a:t>
            </a:r>
          </a:p>
        </p:txBody>
      </p:sp>
      <p:sp>
        <p:nvSpPr>
          <p:cNvPr id="3" name="Subtitle 2">
            <a:extLst>
              <a:ext uri="{FF2B5EF4-FFF2-40B4-BE49-F238E27FC236}">
                <a16:creationId xmlns:a16="http://schemas.microsoft.com/office/drawing/2014/main" id="{EEE9B4CD-0EDC-907A-35AB-D5B7F263D7D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28222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1B33D-B857-226B-A147-5706BCF18391}"/>
              </a:ext>
            </a:extLst>
          </p:cNvPr>
          <p:cNvSpPr>
            <a:spLocks noGrp="1"/>
          </p:cNvSpPr>
          <p:nvPr>
            <p:ph type="title"/>
          </p:nvPr>
        </p:nvSpPr>
        <p:spPr/>
        <p:txBody>
          <a:bodyPr/>
          <a:lstStyle/>
          <a:p>
            <a:r>
              <a:rPr lang="en-IN" sz="2800" dirty="0">
                <a:solidFill>
                  <a:schemeClr val="accent4">
                    <a:lumMod val="60000"/>
                    <a:lumOff val="40000"/>
                  </a:schemeClr>
                </a:solidFill>
              </a:rPr>
              <a:t>Chapters</a:t>
            </a:r>
          </a:p>
        </p:txBody>
      </p:sp>
      <p:sp>
        <p:nvSpPr>
          <p:cNvPr id="3" name="Content Placeholder 2">
            <a:extLst>
              <a:ext uri="{FF2B5EF4-FFF2-40B4-BE49-F238E27FC236}">
                <a16:creationId xmlns:a16="http://schemas.microsoft.com/office/drawing/2014/main" id="{15220C35-A533-E94A-9BF8-2087840A76B3}"/>
              </a:ext>
            </a:extLst>
          </p:cNvPr>
          <p:cNvSpPr>
            <a:spLocks noGrp="1"/>
          </p:cNvSpPr>
          <p:nvPr>
            <p:ph idx="1"/>
          </p:nvPr>
        </p:nvSpPr>
        <p:spPr>
          <a:xfrm>
            <a:off x="1154954" y="2603499"/>
            <a:ext cx="8825659" cy="3806727"/>
          </a:xfrm>
        </p:spPr>
        <p:txBody>
          <a:bodyPr>
            <a:normAutofit/>
          </a:bodyPr>
          <a:lstStyle/>
          <a:p>
            <a:r>
              <a:rPr lang="en-US" sz="1800" b="1" i="0" u="none" strike="noStrike" baseline="0" dirty="0">
                <a:solidFill>
                  <a:srgbClr val="000000"/>
                </a:solidFill>
                <a:latin typeface="Times New Roman" panose="02020603050405020304" pitchFamily="18" charset="0"/>
              </a:rPr>
              <a:t>1. INTRODUCTION TO IMAGE PROCESSING </a:t>
            </a:r>
            <a:r>
              <a:rPr lang="en-US" sz="1800" b="0" i="0" u="none" strike="noStrike" baseline="0" dirty="0">
                <a:solidFill>
                  <a:srgbClr val="000000"/>
                </a:solidFill>
                <a:latin typeface="Times New Roman" panose="02020603050405020304" pitchFamily="18" charset="0"/>
              </a:rPr>
              <a:t>	</a:t>
            </a:r>
          </a:p>
          <a:p>
            <a:r>
              <a:rPr lang="en-IN" sz="1800" b="1" i="0" u="none" strike="noStrike" baseline="0" dirty="0">
                <a:solidFill>
                  <a:srgbClr val="000000"/>
                </a:solidFill>
                <a:latin typeface="Times New Roman" panose="02020603050405020304" pitchFamily="18" charset="0"/>
              </a:rPr>
              <a:t>2. FACE DETECTION </a:t>
            </a:r>
            <a:r>
              <a:rPr lang="en-IN" sz="1800" b="0" i="0" u="none" strike="noStrike" baseline="0" dirty="0">
                <a:solidFill>
                  <a:srgbClr val="000000"/>
                </a:solidFill>
                <a:latin typeface="Times New Roman" panose="02020603050405020304" pitchFamily="18" charset="0"/>
              </a:rPr>
              <a:t>	</a:t>
            </a:r>
          </a:p>
          <a:p>
            <a:r>
              <a:rPr lang="en-IN" sz="1800" b="1" i="0" u="none" strike="noStrike" baseline="0" dirty="0">
                <a:solidFill>
                  <a:srgbClr val="000000"/>
                </a:solidFill>
                <a:latin typeface="Times New Roman" panose="02020603050405020304" pitchFamily="18" charset="0"/>
              </a:rPr>
              <a:t>3.RELATED WORK </a:t>
            </a:r>
            <a:r>
              <a:rPr lang="en-IN" sz="1800" b="0" i="0" u="none" strike="noStrike" baseline="0" dirty="0">
                <a:solidFill>
                  <a:srgbClr val="000000"/>
                </a:solidFill>
                <a:latin typeface="Times New Roman" panose="02020603050405020304" pitchFamily="18" charset="0"/>
              </a:rPr>
              <a:t>	</a:t>
            </a:r>
          </a:p>
          <a:p>
            <a:r>
              <a:rPr lang="en-IN" sz="1800" b="1" i="0" u="none" strike="noStrike" baseline="0" dirty="0">
                <a:solidFill>
                  <a:srgbClr val="000000"/>
                </a:solidFill>
                <a:latin typeface="Times New Roman" panose="02020603050405020304" pitchFamily="18" charset="0"/>
              </a:rPr>
              <a:t>4.PROPOSED FRAMEWORK </a:t>
            </a:r>
            <a:r>
              <a:rPr lang="en-IN" sz="1800" b="0" i="0" u="none" strike="noStrike" baseline="0" dirty="0">
                <a:solidFill>
                  <a:srgbClr val="000000"/>
                </a:solidFill>
                <a:latin typeface="Times New Roman" panose="02020603050405020304" pitchFamily="18" charset="0"/>
              </a:rPr>
              <a:t>	</a:t>
            </a:r>
          </a:p>
          <a:p>
            <a:r>
              <a:rPr lang="en-IN" sz="1800" b="1" i="0" u="none" strike="noStrike" baseline="0" dirty="0">
                <a:solidFill>
                  <a:srgbClr val="000000"/>
                </a:solidFill>
                <a:latin typeface="Times New Roman" panose="02020603050405020304" pitchFamily="18" charset="0"/>
              </a:rPr>
              <a:t>5. SOFTWARE USED </a:t>
            </a:r>
            <a:r>
              <a:rPr lang="en-IN" sz="1800" b="0" i="0" u="none" strike="noStrike" baseline="0" dirty="0">
                <a:solidFill>
                  <a:srgbClr val="000000"/>
                </a:solidFill>
                <a:latin typeface="Times New Roman" panose="02020603050405020304" pitchFamily="18" charset="0"/>
              </a:rPr>
              <a:t>	</a:t>
            </a:r>
          </a:p>
          <a:p>
            <a:r>
              <a:rPr lang="en-IN" sz="1800" b="1" i="0" u="none" strike="noStrike" baseline="0" dirty="0">
                <a:solidFill>
                  <a:srgbClr val="000000"/>
                </a:solidFill>
                <a:latin typeface="Times New Roman" panose="02020603050405020304" pitchFamily="18" charset="0"/>
              </a:rPr>
              <a:t>6. SIMULATION RESULTS </a:t>
            </a:r>
            <a:r>
              <a:rPr lang="en-IN" sz="1800" b="0" i="0" u="none" strike="noStrike" baseline="0" dirty="0">
                <a:solidFill>
                  <a:srgbClr val="000000"/>
                </a:solidFill>
                <a:latin typeface="Times New Roman" panose="02020603050405020304" pitchFamily="18" charset="0"/>
              </a:rPr>
              <a:t>	</a:t>
            </a:r>
          </a:p>
          <a:p>
            <a:r>
              <a:rPr lang="en-IN" sz="1800" b="1" i="0" u="none" strike="noStrike" baseline="0" dirty="0">
                <a:solidFill>
                  <a:srgbClr val="000000"/>
                </a:solidFill>
                <a:latin typeface="Times New Roman" panose="02020603050405020304" pitchFamily="18" charset="0"/>
              </a:rPr>
              <a:t>7. SAMPLE CODING </a:t>
            </a:r>
            <a:r>
              <a:rPr lang="en-IN" sz="1800" b="0" i="0" u="none" strike="noStrike" baseline="0" dirty="0">
                <a:solidFill>
                  <a:srgbClr val="000000"/>
                </a:solidFill>
                <a:latin typeface="Times New Roman" panose="02020603050405020304" pitchFamily="18" charset="0"/>
              </a:rPr>
              <a:t>	</a:t>
            </a:r>
          </a:p>
          <a:p>
            <a:r>
              <a:rPr lang="en-IN" sz="1800" b="1" i="0" u="none" strike="noStrike" baseline="0" dirty="0">
                <a:solidFill>
                  <a:srgbClr val="000000"/>
                </a:solidFill>
                <a:latin typeface="Times New Roman" panose="02020603050405020304" pitchFamily="18" charset="0"/>
              </a:rPr>
              <a:t>8. CONCLUSION &amp; FUTURE WORK </a:t>
            </a:r>
            <a:r>
              <a:rPr lang="en-IN" sz="1800" b="0" i="0" u="none" strike="noStrike" baseline="0" dirty="0">
                <a:solidFill>
                  <a:srgbClr val="000000"/>
                </a:solidFill>
                <a:latin typeface="Times New Roman" panose="02020603050405020304" pitchFamily="18" charset="0"/>
              </a:rPr>
              <a:t>	</a:t>
            </a:r>
          </a:p>
          <a:p>
            <a:r>
              <a:rPr lang="en-IN" sz="1800" b="1" i="0" u="none" strike="noStrike" baseline="0" dirty="0">
                <a:solidFill>
                  <a:srgbClr val="000000"/>
                </a:solidFill>
                <a:latin typeface="Times New Roman" panose="02020603050405020304" pitchFamily="18" charset="0"/>
              </a:rPr>
              <a:t>9 REFERENCES </a:t>
            </a:r>
            <a:r>
              <a:rPr lang="en-IN" sz="1800" b="0" i="0" u="none" strike="noStrike" baseline="0" dirty="0">
                <a:solidFill>
                  <a:srgbClr val="000000"/>
                </a:solidFill>
                <a:latin typeface="Times New Roman" panose="02020603050405020304" pitchFamily="18" charset="0"/>
              </a:rPr>
              <a:t>	</a:t>
            </a:r>
          </a:p>
          <a:p>
            <a:endParaRPr lang="en-IN" sz="1800" b="0" i="0" u="none" strike="noStrike" baseline="0" dirty="0">
              <a:solidFill>
                <a:srgbClr val="000000"/>
              </a:solidFill>
              <a:latin typeface="Times New Roman" panose="02020603050405020304" pitchFamily="18" charset="0"/>
            </a:endParaRPr>
          </a:p>
          <a:p>
            <a:endParaRPr lang="en-IN" sz="1800" b="0" i="0" u="none" strike="noStrike" baseline="0" dirty="0">
              <a:solidFill>
                <a:srgbClr val="000000"/>
              </a:solidFill>
              <a:latin typeface="Times New Roman" panose="02020603050405020304" pitchFamily="18" charset="0"/>
            </a:endParaRPr>
          </a:p>
          <a:p>
            <a:pPr marL="0" indent="0">
              <a:buNone/>
            </a:pPr>
            <a:endParaRPr lang="en-IN" sz="1800" b="0" i="0" u="none" strike="noStrike" baseline="0" dirty="0">
              <a:solidFill>
                <a:srgbClr val="000000"/>
              </a:solidFill>
              <a:latin typeface="Times New Roman" panose="02020603050405020304" pitchFamily="18" charset="0"/>
            </a:endParaRPr>
          </a:p>
          <a:p>
            <a:endParaRPr lang="en-IN" sz="1600" dirty="0"/>
          </a:p>
        </p:txBody>
      </p:sp>
    </p:spTree>
    <p:extLst>
      <p:ext uri="{BB962C8B-B14F-4D97-AF65-F5344CB8AC3E}">
        <p14:creationId xmlns:p14="http://schemas.microsoft.com/office/powerpoint/2010/main" val="3193318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6A0C5-5E78-0925-D1E5-D36E74F42C7C}"/>
              </a:ext>
            </a:extLst>
          </p:cNvPr>
          <p:cNvSpPr>
            <a:spLocks noGrp="1"/>
          </p:cNvSpPr>
          <p:nvPr>
            <p:ph type="title"/>
          </p:nvPr>
        </p:nvSpPr>
        <p:spPr/>
        <p:txBody>
          <a:bodyPr/>
          <a:lstStyle/>
          <a:p>
            <a:r>
              <a:rPr lang="en-IN" sz="2800" b="1" i="0" u="none" strike="noStrike" baseline="0" dirty="0">
                <a:solidFill>
                  <a:schemeClr val="accent4">
                    <a:lumMod val="60000"/>
                    <a:lumOff val="40000"/>
                  </a:schemeClr>
                </a:solidFill>
                <a:latin typeface="Times New Roman" panose="02020603050405020304" pitchFamily="18" charset="0"/>
              </a:rPr>
              <a:t>CHAPTER - 1 </a:t>
            </a:r>
            <a:br>
              <a:rPr lang="en-IN" sz="2800" b="0" i="0" u="none" strike="noStrike" baseline="0" dirty="0">
                <a:solidFill>
                  <a:schemeClr val="accent4">
                    <a:lumMod val="60000"/>
                    <a:lumOff val="40000"/>
                  </a:schemeClr>
                </a:solidFill>
                <a:latin typeface="Times New Roman" panose="02020603050405020304" pitchFamily="18" charset="0"/>
              </a:rPr>
            </a:br>
            <a:r>
              <a:rPr lang="en-IN" sz="2800" b="1" i="0" u="none" strike="noStrike" baseline="0" dirty="0">
                <a:solidFill>
                  <a:schemeClr val="accent4">
                    <a:lumMod val="60000"/>
                    <a:lumOff val="40000"/>
                  </a:schemeClr>
                </a:solidFill>
                <a:latin typeface="Times New Roman" panose="02020603050405020304" pitchFamily="18" charset="0"/>
              </a:rPr>
              <a:t>INTRODUCTION TO IMAGE PROCESSING </a:t>
            </a:r>
            <a:endParaRPr lang="en-IN" sz="2800" dirty="0">
              <a:solidFill>
                <a:schemeClr val="accent4">
                  <a:lumMod val="60000"/>
                  <a:lumOff val="40000"/>
                </a:schemeClr>
              </a:solidFill>
            </a:endParaRPr>
          </a:p>
        </p:txBody>
      </p:sp>
      <p:sp>
        <p:nvSpPr>
          <p:cNvPr id="3" name="Content Placeholder 2">
            <a:extLst>
              <a:ext uri="{FF2B5EF4-FFF2-40B4-BE49-F238E27FC236}">
                <a16:creationId xmlns:a16="http://schemas.microsoft.com/office/drawing/2014/main" id="{27A0981D-FBC1-5FCE-B8E4-9BE6C9F8C62D}"/>
              </a:ext>
            </a:extLst>
          </p:cNvPr>
          <p:cNvSpPr>
            <a:spLocks noGrp="1"/>
          </p:cNvSpPr>
          <p:nvPr>
            <p:ph idx="1"/>
          </p:nvPr>
        </p:nvSpPr>
        <p:spPr>
          <a:xfrm>
            <a:off x="1154954" y="2262433"/>
            <a:ext cx="8825659" cy="4251489"/>
          </a:xfrm>
        </p:spPr>
        <p:txBody>
          <a:bodyPr/>
          <a:lstStyle/>
          <a:p>
            <a:r>
              <a:rPr lang="en-IN" sz="1800" b="1" i="0" u="none" strike="noStrike" baseline="0" dirty="0">
                <a:solidFill>
                  <a:srgbClr val="000000"/>
                </a:solidFill>
                <a:latin typeface="Times New Roman" panose="02020603050405020304" pitchFamily="18" charset="0"/>
              </a:rPr>
              <a:t>Images and pictures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The human beings are predominantly visual creatures: we rely heavily on our vision to make sense of the world around us. We not only look at things to identify and classify them, but we can scan for differences, and obtain an overall rough―feeling for a scene with a quick glance. Humans have evolved very precise visual skills: we can identify a face in an instant; we can differentiate colors; we can process a large amount of visual information very quickly .</a:t>
            </a:r>
          </a:p>
          <a:p>
            <a:r>
              <a:rPr lang="en-IN" sz="1800" b="1" i="0" u="none" strike="noStrike" baseline="0" dirty="0">
                <a:solidFill>
                  <a:srgbClr val="000000"/>
                </a:solidFill>
                <a:latin typeface="Times New Roman" panose="02020603050405020304" pitchFamily="18" charset="0"/>
              </a:rPr>
              <a:t>What is image processing?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Image processing involves changing the nature of an image in order to either </a:t>
            </a:r>
          </a:p>
          <a:p>
            <a:pPr marL="0" indent="0">
              <a:buNone/>
            </a:pPr>
            <a:r>
              <a:rPr lang="en-US" sz="1800" b="0" i="0" u="none" strike="noStrike" baseline="0" dirty="0">
                <a:solidFill>
                  <a:srgbClr val="000000"/>
                </a:solidFill>
                <a:latin typeface="Times New Roman" panose="02020603050405020304" pitchFamily="18" charset="0"/>
              </a:rPr>
              <a:t>1. Improve its pictorial information for human interpretation </a:t>
            </a:r>
          </a:p>
          <a:p>
            <a:pPr marL="0" indent="0">
              <a:buNone/>
            </a:pPr>
            <a:r>
              <a:rPr lang="en-IN" sz="1800" b="0" i="0" u="none" strike="noStrike" baseline="0" dirty="0">
                <a:solidFill>
                  <a:srgbClr val="000000"/>
                </a:solidFill>
                <a:latin typeface="Times New Roman" panose="02020603050405020304" pitchFamily="18" charset="0"/>
              </a:rPr>
              <a:t>2. Render it more suitable for autonomous machine perception. </a:t>
            </a:r>
          </a:p>
          <a:p>
            <a:pPr marL="0" indent="0">
              <a:buNone/>
            </a:pPr>
            <a:endParaRPr lang="en-US" dirty="0">
              <a:solidFill>
                <a:srgbClr val="000000"/>
              </a:solidFill>
              <a:latin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9337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460FF-0D30-5562-1735-7D3EC38BD63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0614EFC-D460-6BE2-9329-CF1F88E37DC9}"/>
              </a:ext>
            </a:extLst>
          </p:cNvPr>
          <p:cNvPicPr>
            <a:picLocks noGrp="1" noChangeAspect="1"/>
          </p:cNvPicPr>
          <p:nvPr>
            <p:ph idx="1"/>
          </p:nvPr>
        </p:nvPicPr>
        <p:blipFill>
          <a:blip r:embed="rId2"/>
          <a:stretch>
            <a:fillRect/>
          </a:stretch>
        </p:blipFill>
        <p:spPr>
          <a:xfrm>
            <a:off x="867266" y="1517715"/>
            <a:ext cx="9473937" cy="4637988"/>
          </a:xfrm>
        </p:spPr>
      </p:pic>
    </p:spTree>
    <p:extLst>
      <p:ext uri="{BB962C8B-B14F-4D97-AF65-F5344CB8AC3E}">
        <p14:creationId xmlns:p14="http://schemas.microsoft.com/office/powerpoint/2010/main" val="616565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2CC05-296B-2C84-5E2D-F9C76D68F55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2ED4366-E118-5D97-059C-9D005DCB1319}"/>
              </a:ext>
            </a:extLst>
          </p:cNvPr>
          <p:cNvSpPr>
            <a:spLocks noGrp="1"/>
          </p:cNvSpPr>
          <p:nvPr>
            <p:ph idx="1"/>
          </p:nvPr>
        </p:nvSpPr>
        <p:spPr>
          <a:xfrm>
            <a:off x="1154954" y="2215299"/>
            <a:ext cx="8825659" cy="4355183"/>
          </a:xfrm>
        </p:spPr>
        <p:txBody>
          <a:bodyPr>
            <a:normAutofit fontScale="92500" lnSpcReduction="10000"/>
          </a:bodyPr>
          <a:lstStyle/>
          <a:p>
            <a:r>
              <a:rPr lang="en-IN" sz="1800" b="1" i="0" u="none" strike="noStrike" baseline="0" dirty="0">
                <a:solidFill>
                  <a:srgbClr val="000000"/>
                </a:solidFill>
                <a:latin typeface="Times New Roman" panose="02020603050405020304" pitchFamily="18" charset="0"/>
              </a:rPr>
              <a:t>Images and digital images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Suppose we take an image, a photo, say. For the moment, let’s make things easy and suppose the photo is black and white (that is, lots of shades of grey), so no color. We may consider this image as being a two-dimensional function, where the function values give the brightness of the image at any given point. We may assume that in such an image brightness values can be any real numbers in the range </a:t>
            </a:r>
            <a:r>
              <a:rPr lang="en-US" sz="1800" b="1" i="0" u="none" strike="noStrike" baseline="0" dirty="0">
                <a:solidFill>
                  <a:srgbClr val="000000"/>
                </a:solidFill>
                <a:latin typeface="Times New Roman" panose="02020603050405020304" pitchFamily="18" charset="0"/>
              </a:rPr>
              <a:t>0</a:t>
            </a:r>
            <a:r>
              <a:rPr lang="en-US" sz="1800" b="0" i="0" u="none" strike="noStrike" baseline="0" dirty="0">
                <a:solidFill>
                  <a:srgbClr val="000000"/>
                </a:solidFill>
                <a:latin typeface="Times New Roman" panose="02020603050405020304" pitchFamily="18" charset="0"/>
              </a:rPr>
              <a:t>(black) to </a:t>
            </a:r>
            <a:r>
              <a:rPr lang="en-US" sz="1800" b="1" i="0" u="none" strike="noStrike" baseline="0" dirty="0">
                <a:solidFill>
                  <a:srgbClr val="000000"/>
                </a:solidFill>
                <a:latin typeface="Times New Roman" panose="02020603050405020304" pitchFamily="18" charset="0"/>
              </a:rPr>
              <a:t>1 </a:t>
            </a:r>
            <a:r>
              <a:rPr lang="en-US" sz="1800" b="0" i="0" u="none" strike="noStrike" baseline="0" dirty="0">
                <a:solidFill>
                  <a:srgbClr val="000000"/>
                </a:solidFill>
                <a:latin typeface="Times New Roman" panose="02020603050405020304" pitchFamily="18" charset="0"/>
              </a:rPr>
              <a:t>(white).</a:t>
            </a:r>
          </a:p>
          <a:p>
            <a:pPr algn="l"/>
            <a:r>
              <a:rPr lang="en-IN" sz="1800" b="1" i="0" u="none" strike="noStrike" baseline="0" dirty="0">
                <a:solidFill>
                  <a:srgbClr val="000000"/>
                </a:solidFill>
                <a:latin typeface="Times New Roman" panose="02020603050405020304" pitchFamily="18" charset="0"/>
              </a:rPr>
              <a:t>Some applications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1.Medicine Inspection and interpretation of images obtained from X-rays, MRI or CAT scans, analysis of cell images, of chromosome karyotypes. </a:t>
            </a:r>
          </a:p>
          <a:p>
            <a:pPr marL="0" indent="0">
              <a:buNone/>
            </a:pPr>
            <a:r>
              <a:rPr lang="en-US" sz="1800" b="0" i="0" u="none" strike="noStrike" baseline="0" dirty="0">
                <a:solidFill>
                  <a:srgbClr val="000000"/>
                </a:solidFill>
                <a:latin typeface="Times New Roman" panose="02020603050405020304" pitchFamily="18" charset="0"/>
              </a:rPr>
              <a:t>2. Agriculture Satellite/aerial views of land, for example to determine how much land is being used for different purposes, or to investigate the suitability of different regions for different crops, inspection of fruit and vegetables—distinguishing good and fresh produce from old. </a:t>
            </a:r>
          </a:p>
          <a:p>
            <a:pPr marL="0" indent="0">
              <a:buNone/>
            </a:pPr>
            <a:r>
              <a:rPr lang="en-US" sz="1800" b="0" i="0" u="none" strike="noStrike" baseline="0" dirty="0">
                <a:solidFill>
                  <a:srgbClr val="000000"/>
                </a:solidFill>
                <a:latin typeface="Times New Roman" panose="02020603050405020304" pitchFamily="18" charset="0"/>
              </a:rPr>
              <a:t>3. Industry Automatic inspection of items on a production line, inspection of paper samples. </a:t>
            </a:r>
          </a:p>
          <a:p>
            <a:pPr marL="0" indent="0">
              <a:buNone/>
            </a:pPr>
            <a:r>
              <a:rPr lang="en-US" sz="1800" b="0" i="0" u="none" strike="noStrike" baseline="0" dirty="0">
                <a:solidFill>
                  <a:srgbClr val="000000"/>
                </a:solidFill>
                <a:latin typeface="Times New Roman" panose="02020603050405020304" pitchFamily="18" charset="0"/>
              </a:rPr>
              <a:t>4. Law enforcement Fingerprint analysis, sharpening or de-blurring of speed-camera images. </a:t>
            </a:r>
          </a:p>
          <a:p>
            <a:pPr>
              <a:buAutoNum type="arabicPeriod"/>
            </a:pPr>
            <a:endParaRPr lang="en-US" sz="1800" b="0" i="0" u="none" strike="noStrike" baseline="0" dirty="0">
              <a:solidFill>
                <a:srgbClr val="000000"/>
              </a:solidFill>
              <a:latin typeface="Times New Roman" panose="02020603050405020304" pitchFamily="18" charset="0"/>
            </a:endParaRPr>
          </a:p>
          <a:p>
            <a:pPr marL="0" indent="0">
              <a:buNone/>
            </a:pPr>
            <a:endParaRPr lang="en-US" sz="1800" b="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109647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F617-2889-4DB3-A3C6-70C519D623AA}"/>
              </a:ext>
            </a:extLst>
          </p:cNvPr>
          <p:cNvSpPr>
            <a:spLocks noGrp="1"/>
          </p:cNvSpPr>
          <p:nvPr>
            <p:ph type="title"/>
          </p:nvPr>
        </p:nvSpPr>
        <p:spPr/>
        <p:txBody>
          <a:bodyPr/>
          <a:lstStyle/>
          <a:p>
            <a:r>
              <a:rPr lang="en-IN" sz="2800" b="1" i="0" u="none" strike="noStrike" baseline="0" dirty="0">
                <a:solidFill>
                  <a:schemeClr val="accent4">
                    <a:lumMod val="60000"/>
                    <a:lumOff val="40000"/>
                  </a:schemeClr>
                </a:solidFill>
                <a:latin typeface="Times New Roman" panose="02020603050405020304" pitchFamily="18" charset="0"/>
              </a:rPr>
              <a:t>Aspects of image processing </a:t>
            </a:r>
            <a:endParaRPr lang="en-IN" sz="2800" dirty="0">
              <a:solidFill>
                <a:schemeClr val="accent4">
                  <a:lumMod val="60000"/>
                  <a:lumOff val="40000"/>
                </a:schemeClr>
              </a:solidFill>
            </a:endParaRPr>
          </a:p>
        </p:txBody>
      </p:sp>
      <p:sp>
        <p:nvSpPr>
          <p:cNvPr id="3" name="Content Placeholder 2">
            <a:extLst>
              <a:ext uri="{FF2B5EF4-FFF2-40B4-BE49-F238E27FC236}">
                <a16:creationId xmlns:a16="http://schemas.microsoft.com/office/drawing/2014/main" id="{64701D7C-6668-77D0-0A1A-4E999C8F0B1F}"/>
              </a:ext>
            </a:extLst>
          </p:cNvPr>
          <p:cNvSpPr>
            <a:spLocks noGrp="1"/>
          </p:cNvSpPr>
          <p:nvPr>
            <p:ph idx="1"/>
          </p:nvPr>
        </p:nvSpPr>
        <p:spPr>
          <a:xfrm>
            <a:off x="1154954" y="2196445"/>
            <a:ext cx="8825659" cy="4326903"/>
          </a:xfrm>
        </p:spPr>
        <p:txBody>
          <a:bodyPr/>
          <a:lstStyle/>
          <a:p>
            <a:r>
              <a:rPr lang="en-IN" sz="1800" b="1" i="1" u="none" strike="noStrike" baseline="0" dirty="0">
                <a:solidFill>
                  <a:srgbClr val="000000"/>
                </a:solidFill>
                <a:latin typeface="Times New Roman" panose="02020603050405020304" pitchFamily="18" charset="0"/>
              </a:rPr>
              <a:t>Image enhancement </a:t>
            </a:r>
          </a:p>
          <a:p>
            <a:pPr marL="0" indent="0">
              <a:buNone/>
            </a:pPr>
            <a:r>
              <a:rPr lang="en-US" sz="1800" b="0" i="0" u="none" strike="noStrike" baseline="0" dirty="0">
                <a:solidFill>
                  <a:srgbClr val="000000"/>
                </a:solidFill>
                <a:latin typeface="Times New Roman" panose="02020603050405020304" pitchFamily="18" charset="0"/>
              </a:rPr>
              <a:t>This refers to processing an image so that the result is more suitable for a particular application. </a:t>
            </a:r>
            <a:endParaRPr lang="en-IN" sz="1800" b="1" i="1" u="none" strike="noStrike" baseline="0" dirty="0">
              <a:solidFill>
                <a:srgbClr val="000000"/>
              </a:solidFill>
              <a:latin typeface="Times New Roman" panose="02020603050405020304" pitchFamily="18" charset="0"/>
            </a:endParaRPr>
          </a:p>
          <a:p>
            <a:r>
              <a:rPr lang="en-IN" sz="1800" b="1" i="1" u="none" strike="noStrike" baseline="0" dirty="0">
                <a:solidFill>
                  <a:srgbClr val="000000"/>
                </a:solidFill>
                <a:latin typeface="Times New Roman" panose="02020603050405020304" pitchFamily="18" charset="0"/>
              </a:rPr>
              <a:t>Image restoration </a:t>
            </a:r>
          </a:p>
          <a:p>
            <a:pPr marL="0" indent="0">
              <a:buNone/>
            </a:pPr>
            <a:r>
              <a:rPr lang="en-US" sz="1800" b="0" i="0" u="none" strike="noStrike" baseline="0" dirty="0">
                <a:solidFill>
                  <a:srgbClr val="000000"/>
                </a:solidFill>
                <a:latin typeface="Times New Roman" panose="02020603050405020304" pitchFamily="18" charset="0"/>
              </a:rPr>
              <a:t>This may be considered as reversing the damage done to an image by a known cause, for example: removing of blur caused by linear motion </a:t>
            </a:r>
            <a:endParaRPr lang="en-IN" sz="1800" b="1" i="1" u="none" strike="noStrike" baseline="0" dirty="0">
              <a:solidFill>
                <a:srgbClr val="000000"/>
              </a:solidFill>
              <a:latin typeface="Times New Roman" panose="02020603050405020304" pitchFamily="18" charset="0"/>
            </a:endParaRPr>
          </a:p>
          <a:p>
            <a:r>
              <a:rPr lang="en-IN" sz="1800" b="1" i="1" u="none" strike="noStrike" baseline="0" dirty="0">
                <a:solidFill>
                  <a:srgbClr val="000000"/>
                </a:solidFill>
                <a:latin typeface="Times New Roman" panose="02020603050405020304" pitchFamily="18" charset="0"/>
              </a:rPr>
              <a:t>Image segmentation </a:t>
            </a:r>
          </a:p>
          <a:p>
            <a:pPr marL="0" indent="0">
              <a:buNone/>
            </a:pPr>
            <a:r>
              <a:rPr lang="en-US" sz="1800" b="0" i="0" u="none" strike="noStrike" baseline="0" dirty="0">
                <a:solidFill>
                  <a:srgbClr val="000000"/>
                </a:solidFill>
                <a:latin typeface="Times New Roman" panose="02020603050405020304" pitchFamily="18" charset="0"/>
              </a:rPr>
              <a:t>This involves subdividing an image into constituent parts, or isolating certain aspects of an image </a:t>
            </a:r>
            <a:endParaRPr lang="en-IN" sz="1800" b="1" i="1" u="none" strike="noStrike" baseline="0" dirty="0">
              <a:solidFill>
                <a:srgbClr val="000000"/>
              </a:solidFill>
              <a:latin typeface="Times New Roman" panose="02020603050405020304" pitchFamily="18" charset="0"/>
            </a:endParaRPr>
          </a:p>
          <a:p>
            <a:endParaRPr lang="en-IN" dirty="0"/>
          </a:p>
        </p:txBody>
      </p:sp>
    </p:spTree>
    <p:extLst>
      <p:ext uri="{BB962C8B-B14F-4D97-AF65-F5344CB8AC3E}">
        <p14:creationId xmlns:p14="http://schemas.microsoft.com/office/powerpoint/2010/main" val="3761298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82166-B6CB-B107-AD08-26D5F2272EFB}"/>
              </a:ext>
            </a:extLst>
          </p:cNvPr>
          <p:cNvSpPr>
            <a:spLocks noGrp="1"/>
          </p:cNvSpPr>
          <p:nvPr>
            <p:ph type="title"/>
          </p:nvPr>
        </p:nvSpPr>
        <p:spPr/>
        <p:txBody>
          <a:bodyPr/>
          <a:lstStyle/>
          <a:p>
            <a:r>
              <a:rPr lang="en-IN" sz="2800" b="1" i="0" u="none" strike="noStrike" baseline="0" dirty="0">
                <a:solidFill>
                  <a:schemeClr val="accent4">
                    <a:lumMod val="75000"/>
                  </a:schemeClr>
                </a:solidFill>
                <a:latin typeface="Times New Roman" panose="02020603050405020304" pitchFamily="18" charset="0"/>
              </a:rPr>
              <a:t>An image processing task </a:t>
            </a:r>
            <a:endParaRPr lang="en-IN" sz="2800" dirty="0">
              <a:solidFill>
                <a:schemeClr val="accent4">
                  <a:lumMod val="75000"/>
                </a:schemeClr>
              </a:solidFill>
            </a:endParaRPr>
          </a:p>
        </p:txBody>
      </p:sp>
      <p:sp>
        <p:nvSpPr>
          <p:cNvPr id="3" name="Content Placeholder 2">
            <a:extLst>
              <a:ext uri="{FF2B5EF4-FFF2-40B4-BE49-F238E27FC236}">
                <a16:creationId xmlns:a16="http://schemas.microsoft.com/office/drawing/2014/main" id="{A6C47D21-C6FF-4C62-665B-7900ACC9A4F1}"/>
              </a:ext>
            </a:extLst>
          </p:cNvPr>
          <p:cNvSpPr>
            <a:spLocks noGrp="1"/>
          </p:cNvSpPr>
          <p:nvPr>
            <p:ph idx="1"/>
          </p:nvPr>
        </p:nvSpPr>
        <p:spPr>
          <a:xfrm>
            <a:off x="1154954" y="2507530"/>
            <a:ext cx="8825659" cy="2648932"/>
          </a:xfrm>
        </p:spPr>
        <p:txBody>
          <a:bodyPr/>
          <a:lstStyle/>
          <a:p>
            <a:r>
              <a:rPr lang="en-IN" sz="1800" u="none" strike="noStrike" baseline="0" dirty="0">
                <a:solidFill>
                  <a:srgbClr val="000000"/>
                </a:solidFill>
                <a:latin typeface="Times New Roman" panose="02020603050405020304" pitchFamily="18" charset="0"/>
              </a:rPr>
              <a:t>Acquiring the image </a:t>
            </a:r>
          </a:p>
          <a:p>
            <a:r>
              <a:rPr lang="en-IN" sz="1800" b="0" i="0" u="none" strike="noStrike" baseline="0" dirty="0" err="1">
                <a:solidFill>
                  <a:srgbClr val="000000"/>
                </a:solidFill>
              </a:rPr>
              <a:t>Preprocessing</a:t>
            </a:r>
            <a:r>
              <a:rPr lang="en-IN" sz="1800" b="0" i="0" u="none" strike="noStrike" baseline="0" dirty="0">
                <a:solidFill>
                  <a:srgbClr val="000000"/>
                </a:solidFill>
              </a:rPr>
              <a:t> </a:t>
            </a:r>
          </a:p>
          <a:p>
            <a:r>
              <a:rPr lang="en-IN" sz="1800" b="0" i="0" u="none" strike="noStrike" baseline="0" dirty="0">
                <a:solidFill>
                  <a:srgbClr val="000000"/>
                </a:solidFill>
              </a:rPr>
              <a:t>Segmentation </a:t>
            </a:r>
          </a:p>
          <a:p>
            <a:r>
              <a:rPr lang="en-IN" sz="1800" u="none" strike="noStrike" baseline="0" dirty="0">
                <a:solidFill>
                  <a:srgbClr val="000000"/>
                </a:solidFill>
                <a:latin typeface="Times New Roman" panose="02020603050405020304" pitchFamily="18" charset="0"/>
              </a:rPr>
              <a:t>Representation and description </a:t>
            </a:r>
          </a:p>
          <a:p>
            <a:r>
              <a:rPr lang="en-IN" sz="1800" u="none" strike="noStrike" baseline="0" dirty="0">
                <a:solidFill>
                  <a:srgbClr val="000000"/>
                </a:solidFill>
                <a:latin typeface="Times New Roman" panose="02020603050405020304" pitchFamily="18" charset="0"/>
              </a:rPr>
              <a:t>Recognition and interpretation </a:t>
            </a:r>
            <a:endParaRPr lang="en-IN" sz="1800" u="none" strike="noStrike" baseline="0" dirty="0">
              <a:solidFill>
                <a:srgbClr val="000000"/>
              </a:solidFill>
            </a:endParaRPr>
          </a:p>
        </p:txBody>
      </p:sp>
    </p:spTree>
    <p:extLst>
      <p:ext uri="{BB962C8B-B14F-4D97-AF65-F5344CB8AC3E}">
        <p14:creationId xmlns:p14="http://schemas.microsoft.com/office/powerpoint/2010/main" val="1901311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463D0-95A0-6014-B172-F84B0152CA35}"/>
              </a:ext>
            </a:extLst>
          </p:cNvPr>
          <p:cNvSpPr>
            <a:spLocks noGrp="1"/>
          </p:cNvSpPr>
          <p:nvPr>
            <p:ph type="title"/>
          </p:nvPr>
        </p:nvSpPr>
        <p:spPr/>
        <p:txBody>
          <a:bodyPr/>
          <a:lstStyle/>
          <a:p>
            <a:br>
              <a:rPr lang="en-IN" sz="1800" b="0" i="0" u="none" strike="noStrike" baseline="0" dirty="0">
                <a:solidFill>
                  <a:srgbClr val="000000"/>
                </a:solidFill>
                <a:latin typeface="Times New Roman" panose="02020603050405020304" pitchFamily="18" charset="0"/>
              </a:rPr>
            </a:br>
            <a:r>
              <a:rPr lang="en-IN" sz="3200" b="1" i="0" u="none" strike="noStrike" baseline="0" dirty="0">
                <a:solidFill>
                  <a:schemeClr val="accent4">
                    <a:lumMod val="60000"/>
                    <a:lumOff val="40000"/>
                  </a:schemeClr>
                </a:solidFill>
                <a:latin typeface="Times New Roman" panose="02020603050405020304" pitchFamily="18" charset="0"/>
              </a:rPr>
              <a:t>Types of digital images </a:t>
            </a:r>
            <a:br>
              <a:rPr lang="en-IN" sz="1800" b="0" i="0" u="none" strike="noStrike" baseline="0" dirty="0">
                <a:solidFill>
                  <a:srgbClr val="000000"/>
                </a:solidFill>
                <a:latin typeface="Times New Roman" panose="02020603050405020304" pitchFamily="18" charset="0"/>
              </a:rPr>
            </a:br>
            <a:br>
              <a:rPr lang="en-IN" sz="18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7934746-4918-333B-5EC1-7D6147C6D8F2}"/>
              </a:ext>
            </a:extLst>
          </p:cNvPr>
          <p:cNvSpPr>
            <a:spLocks noGrp="1"/>
          </p:cNvSpPr>
          <p:nvPr>
            <p:ph idx="1"/>
          </p:nvPr>
        </p:nvSpPr>
        <p:spPr/>
        <p:txBody>
          <a:bodyPr/>
          <a:lstStyle/>
          <a:p>
            <a:r>
              <a:rPr lang="en-IN" sz="1800" b="1" i="1" u="none" strike="noStrike" baseline="0" dirty="0">
                <a:solidFill>
                  <a:srgbClr val="000000"/>
                </a:solidFill>
              </a:rPr>
              <a:t>Binary</a:t>
            </a:r>
            <a:r>
              <a:rPr lang="en-IN" sz="1800" b="0" i="0" u="none" strike="noStrike" baseline="0" dirty="0">
                <a:solidFill>
                  <a:srgbClr val="000000"/>
                </a:solidFill>
              </a:rPr>
              <a:t> </a:t>
            </a:r>
          </a:p>
          <a:p>
            <a:pPr marL="0" indent="0">
              <a:buNone/>
            </a:pPr>
            <a:r>
              <a:rPr lang="en-US" sz="1800" b="0" i="0" u="none" strike="noStrike" baseline="0" dirty="0">
                <a:solidFill>
                  <a:srgbClr val="000000"/>
                </a:solidFill>
                <a:latin typeface="Times New Roman" panose="02020603050405020304" pitchFamily="18" charset="0"/>
              </a:rPr>
              <a:t>Each pixel is just black or white. </a:t>
            </a:r>
            <a:endParaRPr lang="en-IN" dirty="0"/>
          </a:p>
        </p:txBody>
      </p:sp>
      <p:pic>
        <p:nvPicPr>
          <p:cNvPr id="7" name="Picture 6">
            <a:extLst>
              <a:ext uri="{FF2B5EF4-FFF2-40B4-BE49-F238E27FC236}">
                <a16:creationId xmlns:a16="http://schemas.microsoft.com/office/drawing/2014/main" id="{3087A4F6-8921-8257-F553-4C22C402FF61}"/>
              </a:ext>
            </a:extLst>
          </p:cNvPr>
          <p:cNvPicPr>
            <a:picLocks noChangeAspect="1"/>
          </p:cNvPicPr>
          <p:nvPr/>
        </p:nvPicPr>
        <p:blipFill>
          <a:blip r:embed="rId2"/>
          <a:stretch>
            <a:fillRect/>
          </a:stretch>
        </p:blipFill>
        <p:spPr>
          <a:xfrm>
            <a:off x="2394409" y="3337089"/>
            <a:ext cx="7400040" cy="2547243"/>
          </a:xfrm>
          <a:prstGeom prst="rect">
            <a:avLst/>
          </a:prstGeom>
        </p:spPr>
      </p:pic>
    </p:spTree>
    <p:extLst>
      <p:ext uri="{BB962C8B-B14F-4D97-AF65-F5344CB8AC3E}">
        <p14:creationId xmlns:p14="http://schemas.microsoft.com/office/powerpoint/2010/main" val="3210375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B8BDC-F981-5F01-514C-C22BDE2A52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D994AC1-7C42-6EF9-FB96-ED2645B1E7AB}"/>
              </a:ext>
            </a:extLst>
          </p:cNvPr>
          <p:cNvSpPr>
            <a:spLocks noGrp="1"/>
          </p:cNvSpPr>
          <p:nvPr>
            <p:ph idx="1"/>
          </p:nvPr>
        </p:nvSpPr>
        <p:spPr/>
        <p:txBody>
          <a:bodyPr/>
          <a:lstStyle/>
          <a:p>
            <a:r>
              <a:rPr lang="en-IN" sz="1800" b="0" i="0" u="none" strike="noStrike" baseline="0" dirty="0">
                <a:solidFill>
                  <a:srgbClr val="000000"/>
                </a:solidFill>
                <a:latin typeface="Times New Roman" panose="02020603050405020304" pitchFamily="18" charset="0"/>
              </a:rPr>
              <a:t>Greyscale </a:t>
            </a:r>
          </a:p>
          <a:p>
            <a:pPr marL="0" indent="0">
              <a:buNone/>
            </a:pPr>
            <a:r>
              <a:rPr lang="en-US" sz="1800" b="0" i="0" u="none" strike="noStrike" baseline="0" dirty="0">
                <a:solidFill>
                  <a:srgbClr val="000000"/>
                </a:solidFill>
                <a:latin typeface="Times New Roman" panose="02020603050405020304" pitchFamily="18" charset="0"/>
              </a:rPr>
              <a:t>In grayscale image (fig 1.3) Each pixel is a shade of grey, normally from 0(black) to255 (white). </a:t>
            </a:r>
            <a:endParaRPr lang="en-IN" dirty="0"/>
          </a:p>
        </p:txBody>
      </p:sp>
      <p:pic>
        <p:nvPicPr>
          <p:cNvPr id="5" name="Picture 4">
            <a:extLst>
              <a:ext uri="{FF2B5EF4-FFF2-40B4-BE49-F238E27FC236}">
                <a16:creationId xmlns:a16="http://schemas.microsoft.com/office/drawing/2014/main" id="{9CC913E5-9872-2226-2709-EC1BB4811E7B}"/>
              </a:ext>
            </a:extLst>
          </p:cNvPr>
          <p:cNvPicPr>
            <a:picLocks noChangeAspect="1"/>
          </p:cNvPicPr>
          <p:nvPr/>
        </p:nvPicPr>
        <p:blipFill>
          <a:blip r:embed="rId2"/>
          <a:stretch>
            <a:fillRect/>
          </a:stretch>
        </p:blipFill>
        <p:spPr>
          <a:xfrm>
            <a:off x="3054285" y="3750013"/>
            <a:ext cx="5458119" cy="2269787"/>
          </a:xfrm>
          <a:prstGeom prst="rect">
            <a:avLst/>
          </a:prstGeom>
        </p:spPr>
      </p:pic>
    </p:spTree>
    <p:extLst>
      <p:ext uri="{BB962C8B-B14F-4D97-AF65-F5344CB8AC3E}">
        <p14:creationId xmlns:p14="http://schemas.microsoft.com/office/powerpoint/2010/main" val="1957837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6AC55-629C-5ADC-67C9-FB5625A64E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234C879-485D-0C00-F222-2C144BC95DFC}"/>
              </a:ext>
            </a:extLst>
          </p:cNvPr>
          <p:cNvSpPr>
            <a:spLocks noGrp="1"/>
          </p:cNvSpPr>
          <p:nvPr>
            <p:ph idx="1"/>
          </p:nvPr>
        </p:nvSpPr>
        <p:spPr>
          <a:xfrm>
            <a:off x="1154954" y="2224726"/>
            <a:ext cx="8825659" cy="3795074"/>
          </a:xfrm>
        </p:spPr>
        <p:txBody>
          <a:bodyPr/>
          <a:lstStyle/>
          <a:p>
            <a:r>
              <a:rPr lang="en-IN" sz="1800" b="1" i="1" u="none" strike="noStrike" baseline="0" dirty="0">
                <a:solidFill>
                  <a:srgbClr val="000000"/>
                </a:solidFill>
                <a:latin typeface="Times New Roman" panose="02020603050405020304" pitchFamily="18" charset="0"/>
              </a:rPr>
              <a:t>True colour or RGB </a:t>
            </a:r>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In RGB image Here each pixel has a particular </a:t>
            </a:r>
            <a:r>
              <a:rPr lang="en-US" sz="1800" b="0" i="0" u="none" strike="noStrike" baseline="0" dirty="0" err="1">
                <a:solidFill>
                  <a:srgbClr val="000000"/>
                </a:solidFill>
                <a:latin typeface="Times New Roman" panose="02020603050405020304" pitchFamily="18" charset="0"/>
              </a:rPr>
              <a:t>colour</a:t>
            </a:r>
            <a:r>
              <a:rPr lang="en-US" sz="1800" b="0" i="0" u="none" strike="noStrike" baseline="0" dirty="0">
                <a:solidFill>
                  <a:srgbClr val="000000"/>
                </a:solidFill>
                <a:latin typeface="Times New Roman" panose="02020603050405020304" pitchFamily="18" charset="0"/>
              </a:rPr>
              <a:t>; that </a:t>
            </a:r>
            <a:r>
              <a:rPr lang="en-US" sz="1800" b="0" i="0" u="none" strike="noStrike" baseline="0" dirty="0" err="1">
                <a:solidFill>
                  <a:srgbClr val="000000"/>
                </a:solidFill>
                <a:latin typeface="Times New Roman" panose="02020603050405020304" pitchFamily="18" charset="0"/>
              </a:rPr>
              <a:t>colour</a:t>
            </a:r>
            <a:r>
              <a:rPr lang="en-US" sz="1800" b="0" i="0" u="none" strike="noStrike" baseline="0" dirty="0">
                <a:solidFill>
                  <a:srgbClr val="000000"/>
                </a:solidFill>
                <a:latin typeface="Times New Roman" panose="02020603050405020304" pitchFamily="18" charset="0"/>
              </a:rPr>
              <a:t> being described by the amount of red, green and blue in it. </a:t>
            </a:r>
            <a:endParaRPr lang="en-IN" dirty="0"/>
          </a:p>
        </p:txBody>
      </p:sp>
      <p:pic>
        <p:nvPicPr>
          <p:cNvPr id="5" name="Picture 4">
            <a:extLst>
              <a:ext uri="{FF2B5EF4-FFF2-40B4-BE49-F238E27FC236}">
                <a16:creationId xmlns:a16="http://schemas.microsoft.com/office/drawing/2014/main" id="{D57854EB-9ECF-80A6-CC08-135B3F5A93D5}"/>
              </a:ext>
            </a:extLst>
          </p:cNvPr>
          <p:cNvPicPr>
            <a:picLocks noChangeAspect="1"/>
          </p:cNvPicPr>
          <p:nvPr/>
        </p:nvPicPr>
        <p:blipFill>
          <a:blip r:embed="rId2"/>
          <a:stretch>
            <a:fillRect/>
          </a:stretch>
        </p:blipFill>
        <p:spPr>
          <a:xfrm>
            <a:off x="3242821" y="3248887"/>
            <a:ext cx="5467545" cy="3112851"/>
          </a:xfrm>
          <a:prstGeom prst="rect">
            <a:avLst/>
          </a:prstGeom>
        </p:spPr>
      </p:pic>
    </p:spTree>
    <p:extLst>
      <p:ext uri="{BB962C8B-B14F-4D97-AF65-F5344CB8AC3E}">
        <p14:creationId xmlns:p14="http://schemas.microsoft.com/office/powerpoint/2010/main" val="2282688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D2B04-D493-C084-5355-3106442D71EA}"/>
              </a:ext>
            </a:extLst>
          </p:cNvPr>
          <p:cNvSpPr>
            <a:spLocks noGrp="1"/>
          </p:cNvSpPr>
          <p:nvPr>
            <p:ph type="title"/>
          </p:nvPr>
        </p:nvSpPr>
        <p:spPr/>
        <p:txBody>
          <a:bodyPr/>
          <a:lstStyle/>
          <a:p>
            <a:br>
              <a:rPr lang="en-IN" sz="1800" b="0" i="0" u="none" strike="noStrike" baseline="0" dirty="0">
                <a:solidFill>
                  <a:srgbClr val="000000"/>
                </a:solidFill>
                <a:latin typeface="Times New Roman" panose="02020603050405020304" pitchFamily="18" charset="0"/>
              </a:rPr>
            </a:br>
            <a:r>
              <a:rPr lang="en-IN" sz="3200" b="1" i="0" u="none" strike="noStrike" baseline="0" dirty="0">
                <a:solidFill>
                  <a:schemeClr val="accent4">
                    <a:lumMod val="60000"/>
                    <a:lumOff val="40000"/>
                  </a:schemeClr>
                </a:solidFill>
                <a:latin typeface="Times New Roman" panose="02020603050405020304" pitchFamily="18" charset="0"/>
              </a:rPr>
              <a:t>Image Acquisition </a:t>
            </a:r>
            <a:br>
              <a:rPr lang="en-IN" sz="1800" b="0" i="0" u="none" strike="noStrike" baseline="0" dirty="0">
                <a:solidFill>
                  <a:srgbClr val="000000"/>
                </a:solidFill>
                <a:latin typeface="Times New Roman" panose="02020603050405020304" pitchFamily="18" charset="0"/>
              </a:rPr>
            </a:br>
            <a:br>
              <a:rPr lang="en-IN" sz="18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9F96C65-4301-17A4-2040-60B64B22B88F}"/>
              </a:ext>
            </a:extLst>
          </p:cNvPr>
          <p:cNvSpPr>
            <a:spLocks noGrp="1"/>
          </p:cNvSpPr>
          <p:nvPr>
            <p:ph idx="1"/>
          </p:nvPr>
        </p:nvSpPr>
        <p:spPr>
          <a:xfrm>
            <a:off x="1154954" y="2262433"/>
            <a:ext cx="8825659" cy="4128940"/>
          </a:xfrm>
        </p:spPr>
        <p:txBody>
          <a:bodyPr>
            <a:normAutofit fontScale="92500" lnSpcReduction="20000"/>
          </a:bodyPr>
          <a:lstStyle/>
          <a:p>
            <a:r>
              <a:rPr lang="en-IN" sz="1800" b="0" i="0" u="none" strike="noStrike" baseline="0" dirty="0">
                <a:solidFill>
                  <a:srgbClr val="000000"/>
                </a:solidFill>
                <a:latin typeface="Times New Roman" panose="02020603050405020304" pitchFamily="18" charset="0"/>
              </a:rPr>
              <a:t>CCD camera </a:t>
            </a:r>
          </a:p>
          <a:p>
            <a:pPr marL="0" indent="0">
              <a:buNone/>
            </a:pPr>
            <a:r>
              <a:rPr lang="en-US" sz="1800" b="0" i="0" u="none" strike="noStrike" baseline="0" dirty="0">
                <a:solidFill>
                  <a:srgbClr val="000000"/>
                </a:solidFill>
                <a:latin typeface="Times New Roman" panose="02020603050405020304" pitchFamily="18" charset="0"/>
              </a:rPr>
              <a:t>Such a camera has, in place of the usual film, an array of photo sites; these are silicon electronic devices whose voltage output is proportional to the intensity of light falling on them. For a camera attached to a computer, information from the photo sites is then output to a suitable storage medium. </a:t>
            </a:r>
          </a:p>
          <a:p>
            <a:r>
              <a:rPr lang="en-IN" sz="1800" b="1" i="1" u="none" strike="noStrike" baseline="0" dirty="0">
                <a:solidFill>
                  <a:srgbClr val="000000"/>
                </a:solidFill>
                <a:latin typeface="Times New Roman" panose="02020603050405020304" pitchFamily="18" charset="0"/>
              </a:rPr>
              <a:t>Flatbed scanner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This works on a principle similar to the CCD camera. Instead of the entire image being captured at once on a large array, a single row of photo sites is moved across the image, capturing it row-by-row as it moves. </a:t>
            </a:r>
          </a:p>
          <a:p>
            <a:r>
              <a:rPr lang="en-IN" sz="1800" b="1" i="1" u="none" strike="noStrike" baseline="0" dirty="0">
                <a:solidFill>
                  <a:srgbClr val="000000"/>
                </a:solidFill>
                <a:latin typeface="Times New Roman" panose="02020603050405020304" pitchFamily="18" charset="0"/>
              </a:rPr>
              <a:t>Image perception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Much of image processing is concerned with making an image appear better to human beings. We should therefore be aware of the limitations of the human visual system. Image perception consists of two basic steps: </a:t>
            </a:r>
          </a:p>
          <a:p>
            <a:pPr marL="0" indent="0">
              <a:buNone/>
            </a:pPr>
            <a:r>
              <a:rPr lang="en-US" sz="1800" b="0" i="0" u="none" strike="noStrike" baseline="0" dirty="0">
                <a:solidFill>
                  <a:srgbClr val="000000"/>
                </a:solidFill>
                <a:latin typeface="Times New Roman" panose="02020603050405020304" pitchFamily="18" charset="0"/>
              </a:rPr>
              <a:t>1. Capturing the image with the eye, </a:t>
            </a:r>
          </a:p>
          <a:p>
            <a:pPr marL="0" indent="0">
              <a:buNone/>
            </a:pPr>
            <a:r>
              <a:rPr lang="en-US" sz="1800" b="0" i="0" u="none" strike="noStrike" baseline="0" dirty="0">
                <a:solidFill>
                  <a:srgbClr val="000000"/>
                </a:solidFill>
                <a:latin typeface="Times New Roman" panose="02020603050405020304" pitchFamily="18" charset="0"/>
              </a:rPr>
              <a:t>2. Recognizing and interpreting the image with the visual cortex in the brain. </a:t>
            </a:r>
          </a:p>
          <a:p>
            <a:pPr marL="0" indent="0">
              <a:buNone/>
            </a:pPr>
            <a:endParaRPr lang="en-US"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791844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FA213-282B-79D8-2E68-FF136FC212FE}"/>
              </a:ext>
            </a:extLst>
          </p:cNvPr>
          <p:cNvSpPr>
            <a:spLocks noGrp="1"/>
          </p:cNvSpPr>
          <p:nvPr>
            <p:ph type="title"/>
          </p:nvPr>
        </p:nvSpPr>
        <p:spPr/>
        <p:txBody>
          <a:bodyPr/>
          <a:lstStyle/>
          <a:p>
            <a:br>
              <a:rPr lang="en-IN" sz="1800" b="0" i="0" u="none" strike="noStrike" baseline="0" dirty="0">
                <a:solidFill>
                  <a:srgbClr val="000000"/>
                </a:solidFill>
                <a:latin typeface="Times New Roman" panose="02020603050405020304" pitchFamily="18" charset="0"/>
              </a:rPr>
            </a:br>
            <a:r>
              <a:rPr lang="en-IN" sz="3200" b="1" i="1" u="none" strike="noStrike" baseline="0" dirty="0">
                <a:solidFill>
                  <a:schemeClr val="accent4">
                    <a:lumMod val="60000"/>
                    <a:lumOff val="40000"/>
                  </a:schemeClr>
                </a:solidFill>
                <a:latin typeface="Times New Roman" panose="02020603050405020304" pitchFamily="18" charset="0"/>
              </a:rPr>
              <a:t>EDGE DETECTION TECHNIQUES </a:t>
            </a:r>
            <a:br>
              <a:rPr lang="en-IN" sz="1800" b="0" i="0" u="none" strike="noStrike" baseline="0" dirty="0">
                <a:solidFill>
                  <a:srgbClr val="000000"/>
                </a:solidFill>
                <a:latin typeface="Times New Roman" panose="02020603050405020304" pitchFamily="18" charset="0"/>
              </a:rPr>
            </a:br>
            <a:br>
              <a:rPr lang="en-IN" sz="1800" b="0" i="0" u="none" strike="noStrike" baseline="0" dirty="0">
                <a:solidFill>
                  <a:srgbClr val="000000"/>
                </a:solidFill>
                <a:latin typeface="Times New Roman" panose="02020603050405020304" pitchFamily="18" charset="0"/>
              </a:rPr>
            </a:br>
            <a:br>
              <a:rPr lang="en-IN" sz="18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8ACE56B-5CD5-99B4-BDCF-91B60B6E5041}"/>
              </a:ext>
            </a:extLst>
          </p:cNvPr>
          <p:cNvSpPr>
            <a:spLocks noGrp="1"/>
          </p:cNvSpPr>
          <p:nvPr>
            <p:ph idx="1"/>
          </p:nvPr>
        </p:nvSpPr>
        <p:spPr>
          <a:xfrm>
            <a:off x="1154954" y="2243579"/>
            <a:ext cx="8825659" cy="3776221"/>
          </a:xfrm>
        </p:spPr>
        <p:txBody>
          <a:bodyPr/>
          <a:lstStyle/>
          <a:p>
            <a:r>
              <a:rPr lang="en-IN" sz="1800" b="1" i="1" u="none" strike="noStrike" baseline="0" dirty="0">
                <a:solidFill>
                  <a:srgbClr val="000000"/>
                </a:solidFill>
                <a:latin typeface="Times New Roman" panose="02020603050405020304" pitchFamily="18" charset="0"/>
              </a:rPr>
              <a:t>Roberts Edge Detection</a:t>
            </a:r>
            <a:r>
              <a:rPr lang="en-IN" sz="1800" b="0" i="1" u="none" strike="noStrike" baseline="0" dirty="0">
                <a:solidFill>
                  <a:srgbClr val="000000"/>
                </a:solidFill>
                <a:latin typeface="Times New Roman" panose="02020603050405020304" pitchFamily="18" charset="0"/>
              </a:rPr>
              <a:t>: </a:t>
            </a:r>
          </a:p>
          <a:p>
            <a:endParaRPr lang="en-IN" i="1" dirty="0">
              <a:solidFill>
                <a:srgbClr val="000000"/>
              </a:solidFill>
              <a:latin typeface="Times New Roman" panose="02020603050405020304" pitchFamily="18" charset="0"/>
            </a:endParaRPr>
          </a:p>
          <a:p>
            <a:endParaRPr lang="en-IN" i="1" dirty="0">
              <a:solidFill>
                <a:srgbClr val="000000"/>
              </a:solidFill>
              <a:latin typeface="Times New Roman" panose="02020603050405020304" pitchFamily="18" charset="0"/>
            </a:endParaRPr>
          </a:p>
          <a:p>
            <a:r>
              <a:rPr lang="en-IN" sz="1800" b="1" i="1" u="none" strike="noStrike" baseline="0" dirty="0">
                <a:solidFill>
                  <a:srgbClr val="000000"/>
                </a:solidFill>
                <a:latin typeface="Times New Roman" panose="02020603050405020304" pitchFamily="18" charset="0"/>
              </a:rPr>
              <a:t>Sobel Edge Detection </a:t>
            </a:r>
          </a:p>
          <a:p>
            <a:endParaRPr lang="en-IN" b="1" i="1" dirty="0">
              <a:solidFill>
                <a:srgbClr val="000000"/>
              </a:solidFill>
              <a:latin typeface="Times New Roman" panose="02020603050405020304" pitchFamily="18" charset="0"/>
            </a:endParaRPr>
          </a:p>
          <a:p>
            <a:endParaRPr lang="en-IN" sz="1800" b="1" i="1" u="none" strike="noStrike" baseline="0" dirty="0">
              <a:solidFill>
                <a:srgbClr val="000000"/>
              </a:solidFill>
              <a:latin typeface="Times New Roman" panose="02020603050405020304" pitchFamily="18" charset="0"/>
            </a:endParaRPr>
          </a:p>
          <a:p>
            <a:r>
              <a:rPr lang="en-IN" sz="1800" b="1" i="1" u="none" strike="noStrike" baseline="0" dirty="0">
                <a:solidFill>
                  <a:srgbClr val="000000"/>
                </a:solidFill>
                <a:latin typeface="Times New Roman" panose="02020603050405020304" pitchFamily="18" charset="0"/>
              </a:rPr>
              <a:t>Prewitt Edge </a:t>
            </a:r>
            <a:r>
              <a:rPr lang="en-IN" sz="1800" b="1" i="1" u="none" strike="noStrike" baseline="0" dirty="0" err="1">
                <a:solidFill>
                  <a:srgbClr val="000000"/>
                </a:solidFill>
                <a:latin typeface="Times New Roman" panose="02020603050405020304" pitchFamily="18" charset="0"/>
              </a:rPr>
              <a:t>Detectio</a:t>
            </a:r>
            <a:r>
              <a:rPr lang="en-IN" sz="1800" b="1" i="1" u="none" strike="noStrike" baseline="0" dirty="0">
                <a:solidFill>
                  <a:srgbClr val="000000"/>
                </a:solidFill>
                <a:latin typeface="Times New Roman" panose="02020603050405020304" pitchFamily="18" charset="0"/>
              </a:rPr>
              <a:t> </a:t>
            </a:r>
            <a:endParaRPr lang="en-IN" b="1" i="1" dirty="0">
              <a:solidFill>
                <a:srgbClr val="000000"/>
              </a:solidFill>
              <a:latin typeface="Times New Roman" panose="02020603050405020304" pitchFamily="18" charset="0"/>
            </a:endParaRPr>
          </a:p>
          <a:p>
            <a:endParaRPr lang="en-IN" sz="1800" b="1" i="1" u="none" strike="noStrike" baseline="0" dirty="0">
              <a:solidFill>
                <a:srgbClr val="000000"/>
              </a:solidFill>
              <a:latin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6CC3A090-8A60-33AA-EB2C-5FFA3239F4ED}"/>
              </a:ext>
            </a:extLst>
          </p:cNvPr>
          <p:cNvPicPr>
            <a:picLocks noChangeAspect="1"/>
          </p:cNvPicPr>
          <p:nvPr/>
        </p:nvPicPr>
        <p:blipFill>
          <a:blip r:embed="rId2"/>
          <a:stretch>
            <a:fillRect/>
          </a:stretch>
        </p:blipFill>
        <p:spPr>
          <a:xfrm>
            <a:off x="2092751" y="2855034"/>
            <a:ext cx="2170997" cy="573965"/>
          </a:xfrm>
          <a:prstGeom prst="rect">
            <a:avLst/>
          </a:prstGeom>
        </p:spPr>
      </p:pic>
      <p:pic>
        <p:nvPicPr>
          <p:cNvPr id="11" name="Picture 10">
            <a:extLst>
              <a:ext uri="{FF2B5EF4-FFF2-40B4-BE49-F238E27FC236}">
                <a16:creationId xmlns:a16="http://schemas.microsoft.com/office/drawing/2014/main" id="{4D765A95-46F1-130B-9C84-8256178FB13D}"/>
              </a:ext>
            </a:extLst>
          </p:cNvPr>
          <p:cNvPicPr>
            <a:picLocks noChangeAspect="1"/>
          </p:cNvPicPr>
          <p:nvPr/>
        </p:nvPicPr>
        <p:blipFill>
          <a:blip r:embed="rId3"/>
          <a:stretch>
            <a:fillRect/>
          </a:stretch>
        </p:blipFill>
        <p:spPr>
          <a:xfrm>
            <a:off x="1778258" y="3811229"/>
            <a:ext cx="2558072" cy="902174"/>
          </a:xfrm>
          <a:prstGeom prst="rect">
            <a:avLst/>
          </a:prstGeom>
        </p:spPr>
      </p:pic>
      <p:pic>
        <p:nvPicPr>
          <p:cNvPr id="13" name="Picture 12">
            <a:extLst>
              <a:ext uri="{FF2B5EF4-FFF2-40B4-BE49-F238E27FC236}">
                <a16:creationId xmlns:a16="http://schemas.microsoft.com/office/drawing/2014/main" id="{621183D3-49CF-1D40-8C87-92F02A206180}"/>
              </a:ext>
            </a:extLst>
          </p:cNvPr>
          <p:cNvPicPr>
            <a:picLocks noChangeAspect="1"/>
          </p:cNvPicPr>
          <p:nvPr/>
        </p:nvPicPr>
        <p:blipFill>
          <a:blip r:embed="rId4"/>
          <a:stretch>
            <a:fillRect/>
          </a:stretch>
        </p:blipFill>
        <p:spPr>
          <a:xfrm>
            <a:off x="2001226" y="5231876"/>
            <a:ext cx="2335104" cy="1049177"/>
          </a:xfrm>
          <a:prstGeom prst="rect">
            <a:avLst/>
          </a:prstGeom>
        </p:spPr>
      </p:pic>
    </p:spTree>
    <p:extLst>
      <p:ext uri="{BB962C8B-B14F-4D97-AF65-F5344CB8AC3E}">
        <p14:creationId xmlns:p14="http://schemas.microsoft.com/office/powerpoint/2010/main" val="1338944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6299A-28AD-0BE0-926D-B5E2871BC3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2B3E96B-26FC-82AF-36E2-5D6FD69CCF12}"/>
              </a:ext>
            </a:extLst>
          </p:cNvPr>
          <p:cNvSpPr>
            <a:spLocks noGrp="1"/>
          </p:cNvSpPr>
          <p:nvPr>
            <p:ph idx="1"/>
          </p:nvPr>
        </p:nvSpPr>
        <p:spPr>
          <a:xfrm>
            <a:off x="1154954" y="2347274"/>
            <a:ext cx="8825659" cy="3672526"/>
          </a:xfrm>
        </p:spPr>
        <p:txBody>
          <a:bodyPr>
            <a:normAutofit/>
          </a:bodyPr>
          <a:lstStyle/>
          <a:p>
            <a:r>
              <a:rPr lang="en-IN" sz="1800" b="1" i="1" u="none" strike="noStrike" baseline="0" dirty="0">
                <a:solidFill>
                  <a:srgbClr val="000000"/>
                </a:solidFill>
                <a:latin typeface="Times New Roman" panose="02020603050405020304" pitchFamily="18" charset="0"/>
              </a:rPr>
              <a:t>Canny Edge Detection </a:t>
            </a:r>
          </a:p>
          <a:p>
            <a:pPr marL="0" indent="0">
              <a:buNone/>
            </a:pPr>
            <a:r>
              <a:rPr lang="en-US" sz="1800" b="0" i="0" u="none" strike="noStrike" baseline="0" dirty="0">
                <a:solidFill>
                  <a:srgbClr val="000000"/>
                </a:solidFill>
                <a:latin typeface="Times New Roman" panose="02020603050405020304" pitchFamily="18" charset="0"/>
              </a:rPr>
              <a:t>Convolve image f(r, c) with a Gaussian function to get smooth image f^(r, c). f^(=f(</a:t>
            </a:r>
            <a:r>
              <a:rPr lang="en-US" sz="1800" b="0" i="0" u="none" strike="noStrike" baseline="0" dirty="0" err="1">
                <a:solidFill>
                  <a:srgbClr val="000000"/>
                </a:solidFill>
                <a:latin typeface="Times New Roman" panose="02020603050405020304" pitchFamily="18" charset="0"/>
              </a:rPr>
              <a:t>r,c</a:t>
            </a:r>
            <a:r>
              <a:rPr lang="en-US" sz="1800" b="0" i="0" u="none" strike="noStrike" baseline="0" dirty="0">
                <a:solidFill>
                  <a:srgbClr val="000000"/>
                </a:solidFill>
                <a:latin typeface="Times New Roman" panose="02020603050405020304" pitchFamily="18" charset="0"/>
              </a:rPr>
              <a:t>)*G(r,c,6) </a:t>
            </a:r>
          </a:p>
          <a:p>
            <a:pPr marL="0" indent="0">
              <a:buNone/>
            </a:pPr>
            <a:r>
              <a:rPr lang="en-US" sz="1800" b="0" i="0" u="none" strike="noStrike" baseline="0" dirty="0">
                <a:solidFill>
                  <a:srgbClr val="000000"/>
                </a:solidFill>
                <a:latin typeface="Times New Roman" panose="02020603050405020304" pitchFamily="18" charset="0"/>
              </a:rPr>
              <a:t> Apply first difference gradient operator to compute edge strength then edge magnitude and direction are obtain as before. </a:t>
            </a:r>
          </a:p>
          <a:p>
            <a:pPr marL="0" indent="0">
              <a:buNone/>
            </a:pPr>
            <a:r>
              <a:rPr lang="en-US" sz="1800" b="0" i="0" u="none" strike="noStrike" baseline="0" dirty="0">
                <a:solidFill>
                  <a:srgbClr val="000000"/>
                </a:solidFill>
                <a:latin typeface="Times New Roman" panose="02020603050405020304" pitchFamily="18" charset="0"/>
              </a:rPr>
              <a:t>Apply non-maximal or critical suppression to the gradient magnitude. </a:t>
            </a:r>
          </a:p>
          <a:p>
            <a:pPr marL="0" indent="0">
              <a:buNone/>
            </a:pPr>
            <a:r>
              <a:rPr lang="en-US" sz="1800" b="0" i="0" u="none" strike="noStrike" baseline="0" dirty="0">
                <a:solidFill>
                  <a:srgbClr val="000000"/>
                </a:solidFill>
                <a:latin typeface="Times New Roman" panose="02020603050405020304" pitchFamily="18" charset="0"/>
              </a:rPr>
              <a:t>• Apply threshold to the non-maximal suppression image. Unlike Roberts and Sobel, the Canny operation is not very susceptible to noise. If the Canny detector worked well it would be superior. </a:t>
            </a:r>
          </a:p>
          <a:p>
            <a:endParaRPr lang="en-IN" dirty="0"/>
          </a:p>
        </p:txBody>
      </p:sp>
    </p:spTree>
    <p:extLst>
      <p:ext uri="{BB962C8B-B14F-4D97-AF65-F5344CB8AC3E}">
        <p14:creationId xmlns:p14="http://schemas.microsoft.com/office/powerpoint/2010/main" val="3649911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B0CA-D97A-23FA-00B4-8477F0BC616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DEE8169-6860-9623-6954-1956914D545E}"/>
              </a:ext>
            </a:extLst>
          </p:cNvPr>
          <p:cNvPicPr>
            <a:picLocks noGrp="1" noChangeAspect="1"/>
          </p:cNvPicPr>
          <p:nvPr>
            <p:ph idx="1"/>
          </p:nvPr>
        </p:nvPicPr>
        <p:blipFill>
          <a:blip r:embed="rId2"/>
          <a:stretch>
            <a:fillRect/>
          </a:stretch>
        </p:blipFill>
        <p:spPr>
          <a:xfrm>
            <a:off x="1696825" y="2469823"/>
            <a:ext cx="8761413" cy="2055043"/>
          </a:xfrm>
        </p:spPr>
      </p:pic>
      <p:pic>
        <p:nvPicPr>
          <p:cNvPr id="7" name="Picture 6">
            <a:extLst>
              <a:ext uri="{FF2B5EF4-FFF2-40B4-BE49-F238E27FC236}">
                <a16:creationId xmlns:a16="http://schemas.microsoft.com/office/drawing/2014/main" id="{030AA23D-E51D-7047-6A72-FB8E05CD9245}"/>
              </a:ext>
            </a:extLst>
          </p:cNvPr>
          <p:cNvPicPr>
            <a:picLocks noChangeAspect="1"/>
          </p:cNvPicPr>
          <p:nvPr/>
        </p:nvPicPr>
        <p:blipFill>
          <a:blip r:embed="rId3"/>
          <a:stretch>
            <a:fillRect/>
          </a:stretch>
        </p:blipFill>
        <p:spPr>
          <a:xfrm>
            <a:off x="1894788" y="4935199"/>
            <a:ext cx="2516955" cy="1503308"/>
          </a:xfrm>
          <a:prstGeom prst="rect">
            <a:avLst/>
          </a:prstGeom>
        </p:spPr>
      </p:pic>
      <p:pic>
        <p:nvPicPr>
          <p:cNvPr id="9" name="Picture 8">
            <a:extLst>
              <a:ext uri="{FF2B5EF4-FFF2-40B4-BE49-F238E27FC236}">
                <a16:creationId xmlns:a16="http://schemas.microsoft.com/office/drawing/2014/main" id="{40724D77-D82F-9B1D-22A6-758E5C7B6DE6}"/>
              </a:ext>
            </a:extLst>
          </p:cNvPr>
          <p:cNvPicPr>
            <a:picLocks noChangeAspect="1"/>
          </p:cNvPicPr>
          <p:nvPr/>
        </p:nvPicPr>
        <p:blipFill>
          <a:blip r:embed="rId4"/>
          <a:stretch>
            <a:fillRect/>
          </a:stretch>
        </p:blipFill>
        <p:spPr>
          <a:xfrm>
            <a:off x="6683604" y="4788816"/>
            <a:ext cx="2187019" cy="1649691"/>
          </a:xfrm>
          <a:prstGeom prst="rect">
            <a:avLst/>
          </a:prstGeom>
        </p:spPr>
      </p:pic>
    </p:spTree>
    <p:extLst>
      <p:ext uri="{BB962C8B-B14F-4D97-AF65-F5344CB8AC3E}">
        <p14:creationId xmlns:p14="http://schemas.microsoft.com/office/powerpoint/2010/main" val="3970189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B5104-58DC-2880-BCEB-B56F5BDB5FFA}"/>
              </a:ext>
            </a:extLst>
          </p:cNvPr>
          <p:cNvSpPr>
            <a:spLocks noGrp="1"/>
          </p:cNvSpPr>
          <p:nvPr>
            <p:ph type="title"/>
          </p:nvPr>
        </p:nvSpPr>
        <p:spPr/>
        <p:txBody>
          <a:bodyPr/>
          <a:lstStyle/>
          <a:p>
            <a:r>
              <a:rPr lang="en-IN" sz="3200" b="1" i="0" u="none" strike="noStrike" baseline="0" dirty="0">
                <a:solidFill>
                  <a:schemeClr val="accent4">
                    <a:lumMod val="60000"/>
                    <a:lumOff val="40000"/>
                  </a:schemeClr>
                </a:solidFill>
                <a:latin typeface="Times New Roman" panose="02020603050405020304" pitchFamily="18" charset="0"/>
              </a:rPr>
              <a:t>CHAPTER-2 FACE DETECTION </a:t>
            </a:r>
            <a:endParaRPr lang="en-IN" sz="3200" dirty="0">
              <a:solidFill>
                <a:schemeClr val="accent4">
                  <a:lumMod val="60000"/>
                  <a:lumOff val="40000"/>
                </a:schemeClr>
              </a:solidFill>
            </a:endParaRPr>
          </a:p>
        </p:txBody>
      </p:sp>
      <p:sp>
        <p:nvSpPr>
          <p:cNvPr id="3" name="Content Placeholder 2">
            <a:extLst>
              <a:ext uri="{FF2B5EF4-FFF2-40B4-BE49-F238E27FC236}">
                <a16:creationId xmlns:a16="http://schemas.microsoft.com/office/drawing/2014/main" id="{4CCB046A-550C-82A8-B446-D62D99A6D9BA}"/>
              </a:ext>
            </a:extLst>
          </p:cNvPr>
          <p:cNvSpPr>
            <a:spLocks noGrp="1"/>
          </p:cNvSpPr>
          <p:nvPr>
            <p:ph idx="1"/>
          </p:nvPr>
        </p:nvSpPr>
        <p:spPr/>
        <p:txBody>
          <a:bodyPr>
            <a:normAutofit lnSpcReduction="10000"/>
          </a:bodyPr>
          <a:lstStyle/>
          <a:p>
            <a:r>
              <a:rPr lang="en-US" sz="1800" b="0" i="0" u="none" strike="noStrike" baseline="0" dirty="0">
                <a:solidFill>
                  <a:srgbClr val="000000"/>
                </a:solidFill>
                <a:latin typeface="Times New Roman" panose="02020603050405020304" pitchFamily="18" charset="0"/>
              </a:rPr>
              <a:t>Face detection also called facial detection is an artificial intelligence (AI) based computer technology used to find and identify human faces in digital images. Face detection technology can be applied to various fields including security, biometrics, law enforcement, entertainment and personal safety to provide surveillance and tracking of people in real time. </a:t>
            </a:r>
          </a:p>
          <a:p>
            <a:r>
              <a:rPr lang="en-IN" sz="1800" b="1" i="0" u="none" strike="noStrike" baseline="0" dirty="0">
                <a:solidFill>
                  <a:srgbClr val="000000"/>
                </a:solidFill>
                <a:latin typeface="Times New Roman" panose="02020603050405020304" pitchFamily="18" charset="0"/>
              </a:rPr>
              <a:t>How face detection works?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Face detection applications use algorithms and ML to find human faces within larger images, which often incorporate other non-face objects such as landscapes, buildings and other human body parts like feet or hands. Face detection algorithms typically start by searching for human eyes one of the easiest features to detect. The algorithm might then attempt to detect eyebrows, the mouth, nose, nostrils and the iris. Once the algorithm concludes that it has found a facial region, it applies additional tests to confirm that it has, in fact, detected a face. </a:t>
            </a:r>
            <a:endParaRPr lang="en-IN" dirty="0"/>
          </a:p>
        </p:txBody>
      </p:sp>
    </p:spTree>
    <p:extLst>
      <p:ext uri="{BB962C8B-B14F-4D97-AF65-F5344CB8AC3E}">
        <p14:creationId xmlns:p14="http://schemas.microsoft.com/office/powerpoint/2010/main" val="4276482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B2F37-73B5-07B7-E39A-8F8D7944DA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F983ED-5537-0640-972B-4FE43F367E14}"/>
              </a:ext>
            </a:extLst>
          </p:cNvPr>
          <p:cNvSpPr>
            <a:spLocks noGrp="1"/>
          </p:cNvSpPr>
          <p:nvPr>
            <p:ph idx="1"/>
          </p:nvPr>
        </p:nvSpPr>
        <p:spPr>
          <a:xfrm>
            <a:off x="1154954" y="2196445"/>
            <a:ext cx="8825659" cy="3823355"/>
          </a:xfrm>
        </p:spPr>
        <p:txBody>
          <a:bodyPr/>
          <a:lstStyle/>
          <a:p>
            <a:r>
              <a:rPr lang="en-IN" sz="1800" b="1" i="0" u="none" strike="noStrike" baseline="0" dirty="0">
                <a:solidFill>
                  <a:srgbClr val="000000"/>
                </a:solidFill>
                <a:latin typeface="Times New Roman" panose="02020603050405020304" pitchFamily="18" charset="0"/>
              </a:rPr>
              <a:t>Advantages of face detection </a:t>
            </a:r>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As a key element in facial imaging applications, such as facial recognition and face analysis, face detection creates various advantages for users, including: </a:t>
            </a:r>
          </a:p>
          <a:p>
            <a:r>
              <a:rPr lang="en-US" sz="1800" b="0" i="0" u="none" strike="noStrike" baseline="0" dirty="0">
                <a:solidFill>
                  <a:srgbClr val="000000"/>
                </a:solidFill>
                <a:latin typeface="Times New Roman" panose="02020603050405020304" pitchFamily="18" charset="0"/>
              </a:rPr>
              <a:t>• Improved security. Face detection improves surveillance efforts and helps track down criminals and terrorists.</a:t>
            </a:r>
          </a:p>
          <a:p>
            <a:r>
              <a:rPr lang="en-US" sz="1800" b="0" i="0" u="none" strike="noStrike" baseline="0" dirty="0">
                <a:solidFill>
                  <a:srgbClr val="000000"/>
                </a:solidFill>
                <a:latin typeface="Times New Roman" panose="02020603050405020304" pitchFamily="18" charset="0"/>
              </a:rPr>
              <a:t>• Easy to integrate. </a:t>
            </a:r>
          </a:p>
          <a:p>
            <a:r>
              <a:rPr lang="en-IN" sz="1800" b="0" i="0" u="none" strike="noStrike" baseline="0" dirty="0">
                <a:solidFill>
                  <a:srgbClr val="000000"/>
                </a:solidFill>
                <a:latin typeface="Times New Roman" panose="02020603050405020304" pitchFamily="18" charset="0"/>
              </a:rPr>
              <a:t>• Automated identification. </a:t>
            </a:r>
          </a:p>
          <a:p>
            <a:endParaRPr lang="en-IN" dirty="0"/>
          </a:p>
        </p:txBody>
      </p:sp>
    </p:spTree>
    <p:extLst>
      <p:ext uri="{BB962C8B-B14F-4D97-AF65-F5344CB8AC3E}">
        <p14:creationId xmlns:p14="http://schemas.microsoft.com/office/powerpoint/2010/main" val="3144078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6214D-19E1-5887-4834-F8D30CFBC6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628DA60-F33A-D98F-4634-F40AEC0F24C6}"/>
              </a:ext>
            </a:extLst>
          </p:cNvPr>
          <p:cNvSpPr>
            <a:spLocks noGrp="1"/>
          </p:cNvSpPr>
          <p:nvPr>
            <p:ph idx="1"/>
          </p:nvPr>
        </p:nvSpPr>
        <p:spPr>
          <a:xfrm>
            <a:off x="1154954" y="2234153"/>
            <a:ext cx="8825659" cy="3785647"/>
          </a:xfrm>
        </p:spPr>
        <p:txBody>
          <a:bodyPr>
            <a:normAutofit lnSpcReduction="10000"/>
          </a:bodyPr>
          <a:lstStyle/>
          <a:p>
            <a:r>
              <a:rPr lang="en-IN" sz="1800" b="1" i="0" u="none" strike="noStrike" baseline="0" dirty="0">
                <a:solidFill>
                  <a:srgbClr val="000000"/>
                </a:solidFill>
                <a:latin typeface="Times New Roman" panose="02020603050405020304" pitchFamily="18" charset="0"/>
              </a:rPr>
              <a:t>Disadvantages of face detection </a:t>
            </a:r>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While face detection provides several large benefits to users, it also holds various disadvantages, including: </a:t>
            </a:r>
          </a:p>
          <a:p>
            <a:r>
              <a:rPr lang="en-US" sz="1800" b="0" i="0" u="none" strike="noStrike" baseline="0" dirty="0">
                <a:solidFill>
                  <a:srgbClr val="000000"/>
                </a:solidFill>
                <a:latin typeface="Times New Roman" panose="02020603050405020304" pitchFamily="18" charset="0"/>
              </a:rPr>
              <a:t>• Massive data storage burden. The ML technology used in face detection requires powerful data storage that may not be available to all users. </a:t>
            </a:r>
          </a:p>
          <a:p>
            <a:r>
              <a:rPr lang="en-US" sz="1800" b="0" i="0" u="none" strike="noStrike" baseline="0" dirty="0">
                <a:solidFill>
                  <a:srgbClr val="000000"/>
                </a:solidFill>
                <a:latin typeface="Times New Roman" panose="02020603050405020304" pitchFamily="18" charset="0"/>
              </a:rPr>
              <a:t>• Detection is vulnerable. While face detection provides more accurate results than manual identification processes, it can also be more easily thrown off by changes in appearance or camera angles. </a:t>
            </a:r>
          </a:p>
          <a:p>
            <a:r>
              <a:rPr lang="en-US" sz="1800" b="0" i="0" u="none" strike="noStrike" baseline="0" dirty="0">
                <a:solidFill>
                  <a:srgbClr val="000000"/>
                </a:solidFill>
                <a:latin typeface="Times New Roman" panose="02020603050405020304" pitchFamily="18" charset="0"/>
              </a:rPr>
              <a:t>• A potential breach of privacy. Face detection's ability to help the government track down criminals creates huge benefits; however, the same surveillance can allow the government to observe private citizens. Strict regulations must be set to ensure the technology is used fairly and in compliance with human privacy rights. </a:t>
            </a:r>
          </a:p>
          <a:p>
            <a:endParaRPr lang="en-IN" dirty="0"/>
          </a:p>
        </p:txBody>
      </p:sp>
    </p:spTree>
    <p:extLst>
      <p:ext uri="{BB962C8B-B14F-4D97-AF65-F5344CB8AC3E}">
        <p14:creationId xmlns:p14="http://schemas.microsoft.com/office/powerpoint/2010/main" val="393570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CBB83-E5F6-C700-E71D-A453B21E753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821BB8A-B41C-8E7F-7E60-C92028946825}"/>
              </a:ext>
            </a:extLst>
          </p:cNvPr>
          <p:cNvSpPr>
            <a:spLocks noGrp="1"/>
          </p:cNvSpPr>
          <p:nvPr>
            <p:ph idx="1"/>
          </p:nvPr>
        </p:nvSpPr>
        <p:spPr/>
        <p:txBody>
          <a:bodyPr/>
          <a:lstStyle/>
          <a:p>
            <a:r>
              <a:rPr lang="en-IN" sz="1800" b="1" i="0" u="none" strike="noStrike" baseline="0" dirty="0">
                <a:solidFill>
                  <a:srgbClr val="000000"/>
                </a:solidFill>
                <a:latin typeface="Times New Roman" panose="02020603050405020304" pitchFamily="18" charset="0"/>
              </a:rPr>
              <a:t>Face detection vs. face recognition </a:t>
            </a:r>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Although the terms </a:t>
            </a:r>
            <a:r>
              <a:rPr lang="en-US" sz="1800" b="0" i="1" u="none" strike="noStrike" baseline="0" dirty="0">
                <a:solidFill>
                  <a:srgbClr val="000000"/>
                </a:solidFill>
                <a:latin typeface="Times New Roman" panose="02020603050405020304" pitchFamily="18" charset="0"/>
              </a:rPr>
              <a:t>face detection </a:t>
            </a:r>
            <a:r>
              <a:rPr lang="en-US" sz="1800" b="0" i="0" u="none" strike="noStrike" baseline="0" dirty="0">
                <a:solidFill>
                  <a:srgbClr val="000000"/>
                </a:solidFill>
                <a:latin typeface="Times New Roman" panose="02020603050405020304" pitchFamily="18" charset="0"/>
              </a:rPr>
              <a:t>and </a:t>
            </a:r>
            <a:r>
              <a:rPr lang="en-US" sz="1800" b="0" i="1" u="none" strike="noStrike" baseline="0" dirty="0">
                <a:solidFill>
                  <a:srgbClr val="000000"/>
                </a:solidFill>
                <a:latin typeface="Times New Roman" panose="02020603050405020304" pitchFamily="18" charset="0"/>
              </a:rPr>
              <a:t>face recognition </a:t>
            </a:r>
            <a:r>
              <a:rPr lang="en-US" sz="1800" b="0" i="0" u="none" strike="noStrike" baseline="0" dirty="0">
                <a:solidFill>
                  <a:srgbClr val="000000"/>
                </a:solidFill>
                <a:latin typeface="Times New Roman" panose="02020603050405020304" pitchFamily="18" charset="0"/>
              </a:rPr>
              <a:t>are often used together, facial recognition is only one application for face detection -albeit one of the most significant ones. Facial recognition is used for unlocking phones and mobile apps as well as for Biometric verification. The banking, retail and transportation-security industries employ facial recognition to reduce crime and prevent violence. </a:t>
            </a:r>
          </a:p>
          <a:p>
            <a:r>
              <a:rPr lang="en-US" sz="1800" b="0" i="0" u="none" strike="noStrike" baseline="0" dirty="0">
                <a:solidFill>
                  <a:srgbClr val="000000"/>
                </a:solidFill>
                <a:latin typeface="Times New Roman" panose="02020603050405020304" pitchFamily="18" charset="0"/>
              </a:rPr>
              <a:t>In short, the term </a:t>
            </a:r>
            <a:r>
              <a:rPr lang="en-US" sz="1800" b="0" i="1" u="none" strike="noStrike" baseline="0" dirty="0">
                <a:solidFill>
                  <a:srgbClr val="000000"/>
                </a:solidFill>
                <a:latin typeface="Times New Roman" panose="02020603050405020304" pitchFamily="18" charset="0"/>
              </a:rPr>
              <a:t>face recognition </a:t>
            </a:r>
            <a:r>
              <a:rPr lang="en-US" sz="1800" b="0" i="0" u="none" strike="noStrike" baseline="0" dirty="0">
                <a:solidFill>
                  <a:srgbClr val="000000"/>
                </a:solidFill>
                <a:latin typeface="Times New Roman" panose="02020603050405020304" pitchFamily="18" charset="0"/>
              </a:rPr>
              <a:t>extends beyond detecting the presence of a human face to determine whose face it is. The process uses a computer application that captures a digital image of an individual's face sometimes taken from a video frame and compares it to images in a database of stored records. </a:t>
            </a:r>
            <a:endParaRPr lang="en-IN" dirty="0"/>
          </a:p>
        </p:txBody>
      </p:sp>
    </p:spTree>
    <p:extLst>
      <p:ext uri="{BB962C8B-B14F-4D97-AF65-F5344CB8AC3E}">
        <p14:creationId xmlns:p14="http://schemas.microsoft.com/office/powerpoint/2010/main" val="2420540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0F16-2D27-4432-A77C-86A9EF4B5AA9}"/>
              </a:ext>
            </a:extLst>
          </p:cNvPr>
          <p:cNvSpPr>
            <a:spLocks noGrp="1"/>
          </p:cNvSpPr>
          <p:nvPr>
            <p:ph type="title"/>
          </p:nvPr>
        </p:nvSpPr>
        <p:spPr/>
        <p:txBody>
          <a:bodyPr/>
          <a:lstStyle/>
          <a:p>
            <a:r>
              <a:rPr lang="en-IN" sz="3200" b="1" i="0" u="none" strike="noStrike" baseline="0" dirty="0">
                <a:solidFill>
                  <a:schemeClr val="accent4">
                    <a:lumMod val="60000"/>
                    <a:lumOff val="40000"/>
                  </a:schemeClr>
                </a:solidFill>
                <a:latin typeface="Times New Roman" panose="02020603050405020304" pitchFamily="18" charset="0"/>
              </a:rPr>
              <a:t>CHAPTER-3 RELATED WORK </a:t>
            </a:r>
            <a:endParaRPr lang="en-IN" sz="3200" dirty="0">
              <a:solidFill>
                <a:schemeClr val="accent4">
                  <a:lumMod val="60000"/>
                  <a:lumOff val="40000"/>
                </a:schemeClr>
              </a:solidFill>
            </a:endParaRPr>
          </a:p>
        </p:txBody>
      </p:sp>
      <p:sp>
        <p:nvSpPr>
          <p:cNvPr id="3" name="Content Placeholder 2">
            <a:extLst>
              <a:ext uri="{FF2B5EF4-FFF2-40B4-BE49-F238E27FC236}">
                <a16:creationId xmlns:a16="http://schemas.microsoft.com/office/drawing/2014/main" id="{541A0959-5A20-2EF9-98C5-4B5E688DB745}"/>
              </a:ext>
            </a:extLst>
          </p:cNvPr>
          <p:cNvSpPr>
            <a:spLocks noGrp="1"/>
          </p:cNvSpPr>
          <p:nvPr>
            <p:ph idx="1"/>
          </p:nvPr>
        </p:nvSpPr>
        <p:spPr/>
        <p:txBody>
          <a:bodyPr>
            <a:normAutofit lnSpcReduction="10000"/>
          </a:bodyPr>
          <a:lstStyle/>
          <a:p>
            <a:r>
              <a:rPr lang="en-US" sz="1800" b="0" i="0" u="none" strike="noStrike" baseline="0" dirty="0">
                <a:solidFill>
                  <a:srgbClr val="000000"/>
                </a:solidFill>
                <a:latin typeface="Times New Roman" panose="02020603050405020304" pitchFamily="18" charset="0"/>
              </a:rPr>
              <a:t>Object detection has been a great challenge from the past few years. In computer vision human face detection is an important research topic. It is needed for many computer applications like HCI, surveillance, human-robot interaction, etc. In this field facial tracking is finding more growth of use in security and safety applications to detect various situations. This tracking domain can be used to control or communicate with robots. Detecting human faces in a video is a great challenging problem. These configurations may be like angle of view, background intensity, and various illuminations. This is due to high variety of configurations that may occur. The complexness of the face results in a particular degree of issue for fast detection and tracking [2]. For face detection and tracking in a given video sequence different algorithms have been introduced over the past few years. Each algorithm has got its own advantages and disadvantages. But any face tracking algorithm will have some errors which will cause deviation from the required object </a:t>
            </a:r>
            <a:endParaRPr lang="en-IN" dirty="0"/>
          </a:p>
        </p:txBody>
      </p:sp>
    </p:spTree>
    <p:extLst>
      <p:ext uri="{BB962C8B-B14F-4D97-AF65-F5344CB8AC3E}">
        <p14:creationId xmlns:p14="http://schemas.microsoft.com/office/powerpoint/2010/main" val="2215329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646B1-8619-03B9-EE3A-02D1D1E004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3CDC4E6-BE0F-4585-2AA5-8D5BFEEDF8F7}"/>
              </a:ext>
            </a:extLst>
          </p:cNvPr>
          <p:cNvSpPr>
            <a:spLocks noGrp="1"/>
          </p:cNvSpPr>
          <p:nvPr>
            <p:ph idx="1"/>
          </p:nvPr>
        </p:nvSpPr>
        <p:spPr>
          <a:xfrm>
            <a:off x="1154954" y="2253006"/>
            <a:ext cx="8825659" cy="3766794"/>
          </a:xfrm>
        </p:spPr>
        <p:txBody>
          <a:bodyPr/>
          <a:lstStyle/>
          <a:p>
            <a:r>
              <a:rPr lang="en-IN" sz="1800" b="1" i="0" u="none" strike="noStrike" baseline="0" dirty="0">
                <a:solidFill>
                  <a:srgbClr val="000000"/>
                </a:solidFill>
                <a:latin typeface="Times New Roman" panose="02020603050405020304" pitchFamily="18" charset="0"/>
              </a:rPr>
              <a:t>Literature Review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Md. A.R. Ahad proposed a classifier in </a:t>
            </a:r>
            <a:r>
              <a:rPr lang="en-US" sz="1800" b="1" i="1" u="none" strike="noStrike" baseline="0" dirty="0">
                <a:solidFill>
                  <a:srgbClr val="000000"/>
                </a:solidFill>
                <a:latin typeface="Times New Roman" panose="02020603050405020304" pitchFamily="18" charset="0"/>
              </a:rPr>
              <a:t>Computer vision and action recognition: A guide for image processing and computer vision community for action understanding [Reference] </a:t>
            </a:r>
            <a:r>
              <a:rPr lang="en-US" sz="1800" b="0" i="0" u="none" strike="noStrike" baseline="0" dirty="0">
                <a:solidFill>
                  <a:srgbClr val="000000"/>
                </a:solidFill>
                <a:latin typeface="Times New Roman" panose="02020603050405020304" pitchFamily="18" charset="0"/>
              </a:rPr>
              <a:t>where the features of the images are classified to different groups [3] </a:t>
            </a:r>
            <a:endParaRPr lang="en-IN" dirty="0"/>
          </a:p>
        </p:txBody>
      </p:sp>
      <p:pic>
        <p:nvPicPr>
          <p:cNvPr id="5" name="Picture 4">
            <a:extLst>
              <a:ext uri="{FF2B5EF4-FFF2-40B4-BE49-F238E27FC236}">
                <a16:creationId xmlns:a16="http://schemas.microsoft.com/office/drawing/2014/main" id="{24DA1A98-0EBC-9FBA-6C15-2C979A5FFD73}"/>
              </a:ext>
            </a:extLst>
          </p:cNvPr>
          <p:cNvPicPr>
            <a:picLocks noChangeAspect="1"/>
          </p:cNvPicPr>
          <p:nvPr/>
        </p:nvPicPr>
        <p:blipFill>
          <a:blip r:embed="rId2"/>
          <a:stretch>
            <a:fillRect/>
          </a:stretch>
        </p:blipFill>
        <p:spPr>
          <a:xfrm>
            <a:off x="1545996" y="3667026"/>
            <a:ext cx="7645138" cy="2352773"/>
          </a:xfrm>
          <a:prstGeom prst="rect">
            <a:avLst/>
          </a:prstGeom>
        </p:spPr>
      </p:pic>
    </p:spTree>
    <p:extLst>
      <p:ext uri="{BB962C8B-B14F-4D97-AF65-F5344CB8AC3E}">
        <p14:creationId xmlns:p14="http://schemas.microsoft.com/office/powerpoint/2010/main" val="2821069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93ADB-8574-35FF-0735-7222994CABF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A3D441F-1E25-1939-48E4-48B340BB3FE6}"/>
              </a:ext>
            </a:extLst>
          </p:cNvPr>
          <p:cNvSpPr>
            <a:spLocks noGrp="1"/>
          </p:cNvSpPr>
          <p:nvPr>
            <p:ph idx="1"/>
          </p:nvPr>
        </p:nvSpPr>
        <p:spPr>
          <a:xfrm>
            <a:off x="1154954" y="2262433"/>
            <a:ext cx="8825659" cy="3757367"/>
          </a:xfrm>
        </p:spPr>
        <p:txBody>
          <a:bodyPr/>
          <a:lstStyle/>
          <a:p>
            <a:r>
              <a:rPr lang="en-IN" sz="1800" b="1" i="0" u="none" strike="noStrike" baseline="0" dirty="0">
                <a:solidFill>
                  <a:srgbClr val="000000"/>
                </a:solidFill>
                <a:latin typeface="Times New Roman" panose="02020603050405020304" pitchFamily="18" charset="0"/>
              </a:rPr>
              <a:t>Face tracking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Object tracking is defined as keeping a trace on a particular kind of object. In this project as we are mainly concentrating on face, we track human faces based on the given input features. </a:t>
            </a:r>
            <a:endParaRPr lang="en-IN" dirty="0"/>
          </a:p>
        </p:txBody>
      </p:sp>
      <p:pic>
        <p:nvPicPr>
          <p:cNvPr id="5" name="Picture 4">
            <a:extLst>
              <a:ext uri="{FF2B5EF4-FFF2-40B4-BE49-F238E27FC236}">
                <a16:creationId xmlns:a16="http://schemas.microsoft.com/office/drawing/2014/main" id="{E002C4AE-01C6-D637-8F58-28E6AC8F784D}"/>
              </a:ext>
            </a:extLst>
          </p:cNvPr>
          <p:cNvPicPr>
            <a:picLocks noChangeAspect="1"/>
          </p:cNvPicPr>
          <p:nvPr/>
        </p:nvPicPr>
        <p:blipFill>
          <a:blip r:embed="rId2"/>
          <a:stretch>
            <a:fillRect/>
          </a:stretch>
        </p:blipFill>
        <p:spPr>
          <a:xfrm>
            <a:off x="1348032" y="3272355"/>
            <a:ext cx="8474697" cy="3194433"/>
          </a:xfrm>
          <a:prstGeom prst="rect">
            <a:avLst/>
          </a:prstGeom>
        </p:spPr>
      </p:pic>
    </p:spTree>
    <p:extLst>
      <p:ext uri="{BB962C8B-B14F-4D97-AF65-F5344CB8AC3E}">
        <p14:creationId xmlns:p14="http://schemas.microsoft.com/office/powerpoint/2010/main" val="2560039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110C1-2A72-556E-B8CA-41E8B9653DBE}"/>
              </a:ext>
            </a:extLst>
          </p:cNvPr>
          <p:cNvSpPr>
            <a:spLocks noGrp="1"/>
          </p:cNvSpPr>
          <p:nvPr>
            <p:ph type="title"/>
          </p:nvPr>
        </p:nvSpPr>
        <p:spPr/>
        <p:txBody>
          <a:bodyPr/>
          <a:lstStyle/>
          <a:p>
            <a:r>
              <a:rPr lang="en-IN" sz="2800" b="1" i="0" u="none" strike="noStrike" baseline="0" dirty="0" err="1">
                <a:solidFill>
                  <a:schemeClr val="accent4">
                    <a:lumMod val="60000"/>
                    <a:lumOff val="40000"/>
                  </a:schemeClr>
                </a:solidFill>
                <a:latin typeface="Times New Roman" panose="02020603050405020304" pitchFamily="18" charset="0"/>
              </a:rPr>
              <a:t>Kanade</a:t>
            </a:r>
            <a:r>
              <a:rPr lang="en-IN" sz="2800" b="1" i="0" u="none" strike="noStrike" baseline="0" dirty="0">
                <a:solidFill>
                  <a:schemeClr val="accent4">
                    <a:lumMod val="60000"/>
                    <a:lumOff val="40000"/>
                  </a:schemeClr>
                </a:solidFill>
                <a:latin typeface="Times New Roman" panose="02020603050405020304" pitchFamily="18" charset="0"/>
              </a:rPr>
              <a:t> Lucas </a:t>
            </a:r>
            <a:r>
              <a:rPr lang="en-IN" sz="2800" b="1" i="0" u="none" strike="noStrike" baseline="0" dirty="0" err="1">
                <a:solidFill>
                  <a:schemeClr val="accent4">
                    <a:lumMod val="60000"/>
                    <a:lumOff val="40000"/>
                  </a:schemeClr>
                </a:solidFill>
                <a:latin typeface="Times New Roman" panose="02020603050405020304" pitchFamily="18" charset="0"/>
              </a:rPr>
              <a:t>Tomasi</a:t>
            </a:r>
            <a:r>
              <a:rPr lang="en-IN" sz="2800" b="1" i="0" u="none" strike="noStrike" baseline="0" dirty="0">
                <a:solidFill>
                  <a:schemeClr val="accent4">
                    <a:lumMod val="60000"/>
                    <a:lumOff val="40000"/>
                  </a:schemeClr>
                </a:solidFill>
                <a:latin typeface="Times New Roman" panose="02020603050405020304" pitchFamily="18" charset="0"/>
              </a:rPr>
              <a:t> (KLT) algorithm </a:t>
            </a:r>
            <a:endParaRPr lang="en-IN" sz="2800" dirty="0">
              <a:solidFill>
                <a:schemeClr val="accent4">
                  <a:lumMod val="60000"/>
                  <a:lumOff val="40000"/>
                </a:schemeClr>
              </a:solidFill>
            </a:endParaRPr>
          </a:p>
        </p:txBody>
      </p:sp>
      <p:pic>
        <p:nvPicPr>
          <p:cNvPr id="5" name="Content Placeholder 4">
            <a:extLst>
              <a:ext uri="{FF2B5EF4-FFF2-40B4-BE49-F238E27FC236}">
                <a16:creationId xmlns:a16="http://schemas.microsoft.com/office/drawing/2014/main" id="{3AEDE66A-15DF-79DD-416E-17E7777B03ED}"/>
              </a:ext>
            </a:extLst>
          </p:cNvPr>
          <p:cNvPicPr>
            <a:picLocks noGrp="1" noChangeAspect="1"/>
          </p:cNvPicPr>
          <p:nvPr>
            <p:ph idx="1"/>
          </p:nvPr>
        </p:nvPicPr>
        <p:blipFill>
          <a:blip r:embed="rId2"/>
          <a:stretch>
            <a:fillRect/>
          </a:stretch>
        </p:blipFill>
        <p:spPr>
          <a:xfrm>
            <a:off x="2818615" y="2337504"/>
            <a:ext cx="4996206" cy="4412088"/>
          </a:xfrm>
        </p:spPr>
      </p:pic>
    </p:spTree>
    <p:extLst>
      <p:ext uri="{BB962C8B-B14F-4D97-AF65-F5344CB8AC3E}">
        <p14:creationId xmlns:p14="http://schemas.microsoft.com/office/powerpoint/2010/main" val="676938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D497E-8CB4-C691-4994-2EC005941672}"/>
              </a:ext>
            </a:extLst>
          </p:cNvPr>
          <p:cNvSpPr>
            <a:spLocks noGrp="1"/>
          </p:cNvSpPr>
          <p:nvPr>
            <p:ph type="title"/>
          </p:nvPr>
        </p:nvSpPr>
        <p:spPr/>
        <p:txBody>
          <a:bodyPr/>
          <a:lstStyle/>
          <a:p>
            <a:r>
              <a:rPr lang="en-IN" sz="2800" b="1" i="0" u="none" strike="noStrike" baseline="0" dirty="0">
                <a:solidFill>
                  <a:schemeClr val="accent4">
                    <a:lumMod val="60000"/>
                    <a:lumOff val="40000"/>
                  </a:schemeClr>
                </a:solidFill>
                <a:latin typeface="Times New Roman" panose="02020603050405020304" pitchFamily="18" charset="0"/>
              </a:rPr>
              <a:t>Viola Jones algorithm </a:t>
            </a:r>
            <a:endParaRPr lang="en-IN" sz="2800" dirty="0">
              <a:solidFill>
                <a:schemeClr val="accent4">
                  <a:lumMod val="60000"/>
                  <a:lumOff val="40000"/>
                </a:schemeClr>
              </a:solidFill>
            </a:endParaRPr>
          </a:p>
        </p:txBody>
      </p:sp>
      <p:sp>
        <p:nvSpPr>
          <p:cNvPr id="7" name="Content Placeholder 6">
            <a:extLst>
              <a:ext uri="{FF2B5EF4-FFF2-40B4-BE49-F238E27FC236}">
                <a16:creationId xmlns:a16="http://schemas.microsoft.com/office/drawing/2014/main" id="{99A7911A-C29B-0EE5-B58F-B6DE670425E0}"/>
              </a:ext>
            </a:extLst>
          </p:cNvPr>
          <p:cNvSpPr>
            <a:spLocks noGrp="1"/>
          </p:cNvSpPr>
          <p:nvPr>
            <p:ph idx="1"/>
          </p:nvPr>
        </p:nvSpPr>
        <p:spPr/>
        <p:txBody>
          <a:bodyPr/>
          <a:lstStyle/>
          <a:p>
            <a:endParaRPr lang="en-IN" dirty="0"/>
          </a:p>
        </p:txBody>
      </p:sp>
      <p:sp>
        <p:nvSpPr>
          <p:cNvPr id="9" name="TextBox 8">
            <a:extLst>
              <a:ext uri="{FF2B5EF4-FFF2-40B4-BE49-F238E27FC236}">
                <a16:creationId xmlns:a16="http://schemas.microsoft.com/office/drawing/2014/main" id="{6F1F8DA2-4C30-731F-DB58-A48EF3675563}"/>
              </a:ext>
            </a:extLst>
          </p:cNvPr>
          <p:cNvSpPr txBox="1"/>
          <p:nvPr/>
        </p:nvSpPr>
        <p:spPr>
          <a:xfrm>
            <a:off x="2688996" y="2603500"/>
            <a:ext cx="6094428" cy="3693319"/>
          </a:xfrm>
          <a:prstGeom prst="rect">
            <a:avLst/>
          </a:prstGeom>
          <a:noFill/>
        </p:spPr>
        <p:txBody>
          <a:bodyPr wrap="square">
            <a:spAutoFit/>
          </a:bodyPr>
          <a:lstStyle/>
          <a:p>
            <a:r>
              <a:rPr lang="en-US" sz="1800" b="0" i="0" u="none" strike="noStrike" baseline="0" dirty="0">
                <a:solidFill>
                  <a:srgbClr val="000000"/>
                </a:solidFill>
                <a:latin typeface="Times New Roman" panose="02020603050405020304" pitchFamily="18" charset="0"/>
              </a:rPr>
              <a:t>This algorithm helps us detect features of a face in a particular frame of a video sequence. This is the first object detection framework which gives a competition to real time detection rates. Paul Viola and Michael Jones are the ones who introduced this algorithm. They made this algorithm mainly by the issue of face detection. There are four steps which have to be followed to detect a face. Firstly, we train the system with the </a:t>
            </a:r>
            <a:r>
              <a:rPr lang="en-US" sz="1800" b="0" i="0" u="none" strike="noStrike" baseline="0" dirty="0" err="1">
                <a:solidFill>
                  <a:srgbClr val="000000"/>
                </a:solidFill>
                <a:latin typeface="Times New Roman" panose="02020603050405020304" pitchFamily="18" charset="0"/>
              </a:rPr>
              <a:t>haar</a:t>
            </a:r>
            <a:r>
              <a:rPr lang="en-US" sz="1800" b="0" i="0" u="none" strike="noStrike" baseline="0" dirty="0">
                <a:solidFill>
                  <a:srgbClr val="000000"/>
                </a:solidFill>
                <a:latin typeface="Times New Roman" panose="02020603050405020304" pitchFamily="18" charset="0"/>
              </a:rPr>
              <a:t> features [12-14]. </a:t>
            </a:r>
            <a:r>
              <a:rPr lang="en-US" sz="1800" b="0" i="0" u="none" strike="noStrike" baseline="0" dirty="0" err="1">
                <a:solidFill>
                  <a:srgbClr val="000000"/>
                </a:solidFill>
                <a:latin typeface="Times New Roman" panose="02020603050405020304" pitchFamily="18" charset="0"/>
              </a:rPr>
              <a:t>Haar</a:t>
            </a:r>
            <a:r>
              <a:rPr lang="en-US" sz="1800" b="0" i="0" u="none" strike="noStrike" baseline="0" dirty="0">
                <a:solidFill>
                  <a:srgbClr val="000000"/>
                </a:solidFill>
                <a:latin typeface="Times New Roman" panose="02020603050405020304" pitchFamily="18" charset="0"/>
              </a:rPr>
              <a:t> features are a kind of rectangular boxes which are black and white. </a:t>
            </a:r>
            <a:r>
              <a:rPr lang="en-US" sz="1800" b="0" i="0" u="none" strike="noStrike" baseline="0" dirty="0" err="1">
                <a:solidFill>
                  <a:srgbClr val="000000"/>
                </a:solidFill>
                <a:latin typeface="Times New Roman" panose="02020603050405020304" pitchFamily="18" charset="0"/>
              </a:rPr>
              <a:t>Haar</a:t>
            </a:r>
            <a:r>
              <a:rPr lang="en-US" sz="1800" b="0" i="0" u="none" strike="noStrike" baseline="0" dirty="0">
                <a:solidFill>
                  <a:srgbClr val="000000"/>
                </a:solidFill>
                <a:latin typeface="Times New Roman" panose="02020603050405020304" pitchFamily="18" charset="0"/>
              </a:rPr>
              <a:t> features are simple rectangular feature which is the difference of the sum of pixels of areas inside the rectangle. This rectangle can be at any position of the frame and can scale the image. This modified feature set is called 2-rectangle feature </a:t>
            </a:r>
            <a:endParaRPr lang="en-IN" dirty="0"/>
          </a:p>
        </p:txBody>
      </p:sp>
    </p:spTree>
    <p:extLst>
      <p:ext uri="{BB962C8B-B14F-4D97-AF65-F5344CB8AC3E}">
        <p14:creationId xmlns:p14="http://schemas.microsoft.com/office/powerpoint/2010/main" val="1697964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48EB1-7CF4-2599-A32D-5E69E6540381}"/>
              </a:ext>
            </a:extLst>
          </p:cNvPr>
          <p:cNvSpPr>
            <a:spLocks noGrp="1"/>
          </p:cNvSpPr>
          <p:nvPr>
            <p:ph type="title"/>
          </p:nvPr>
        </p:nvSpPr>
        <p:spPr/>
        <p:txBody>
          <a:bodyPr/>
          <a:lstStyle/>
          <a:p>
            <a:r>
              <a:rPr lang="en-IN" sz="2800" b="1" i="0" u="none" strike="noStrike" baseline="0" dirty="0">
                <a:solidFill>
                  <a:schemeClr val="accent4">
                    <a:lumMod val="60000"/>
                    <a:lumOff val="40000"/>
                  </a:schemeClr>
                </a:solidFill>
                <a:latin typeface="Times New Roman" panose="02020603050405020304" pitchFamily="18" charset="0"/>
              </a:rPr>
              <a:t>Viola Jones algorithm </a:t>
            </a:r>
            <a:endParaRPr lang="en-IN" sz="2800" dirty="0">
              <a:solidFill>
                <a:schemeClr val="accent4">
                  <a:lumMod val="60000"/>
                  <a:lumOff val="40000"/>
                </a:schemeClr>
              </a:solidFill>
            </a:endParaRPr>
          </a:p>
        </p:txBody>
      </p:sp>
      <p:pic>
        <p:nvPicPr>
          <p:cNvPr id="5" name="Content Placeholder 4">
            <a:extLst>
              <a:ext uri="{FF2B5EF4-FFF2-40B4-BE49-F238E27FC236}">
                <a16:creationId xmlns:a16="http://schemas.microsoft.com/office/drawing/2014/main" id="{2922F1F4-37D1-AC56-0AFE-F8258BED48C6}"/>
              </a:ext>
            </a:extLst>
          </p:cNvPr>
          <p:cNvPicPr>
            <a:picLocks noGrp="1" noChangeAspect="1"/>
          </p:cNvPicPr>
          <p:nvPr>
            <p:ph idx="1"/>
          </p:nvPr>
        </p:nvPicPr>
        <p:blipFill>
          <a:blip r:embed="rId2"/>
          <a:stretch>
            <a:fillRect/>
          </a:stretch>
        </p:blipFill>
        <p:spPr>
          <a:xfrm>
            <a:off x="3481779" y="2670918"/>
            <a:ext cx="4172755" cy="3281464"/>
          </a:xfrm>
        </p:spPr>
      </p:pic>
    </p:spTree>
    <p:extLst>
      <p:ext uri="{BB962C8B-B14F-4D97-AF65-F5344CB8AC3E}">
        <p14:creationId xmlns:p14="http://schemas.microsoft.com/office/powerpoint/2010/main" val="588549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7EC78-5414-B506-88E4-9B3C36D2495B}"/>
              </a:ext>
            </a:extLst>
          </p:cNvPr>
          <p:cNvSpPr>
            <a:spLocks noGrp="1"/>
          </p:cNvSpPr>
          <p:nvPr>
            <p:ph type="title"/>
          </p:nvPr>
        </p:nvSpPr>
        <p:spPr/>
        <p:txBody>
          <a:bodyPr/>
          <a:lstStyle/>
          <a:p>
            <a:r>
              <a:rPr lang="en-IN" sz="2800" b="1" i="0" u="none" strike="noStrike" baseline="0" dirty="0">
                <a:solidFill>
                  <a:schemeClr val="accent4">
                    <a:lumMod val="60000"/>
                    <a:lumOff val="40000"/>
                  </a:schemeClr>
                </a:solidFill>
                <a:latin typeface="Times New Roman" panose="02020603050405020304" pitchFamily="18" charset="0"/>
              </a:rPr>
              <a:t>CHAPTER-4 PROPOSED FRAMEWORK </a:t>
            </a:r>
            <a:endParaRPr lang="en-IN" sz="2800" dirty="0">
              <a:solidFill>
                <a:schemeClr val="accent4">
                  <a:lumMod val="60000"/>
                  <a:lumOff val="40000"/>
                </a:schemeClr>
              </a:solidFill>
            </a:endParaRPr>
          </a:p>
        </p:txBody>
      </p:sp>
      <p:sp>
        <p:nvSpPr>
          <p:cNvPr id="3" name="Content Placeholder 2">
            <a:extLst>
              <a:ext uri="{FF2B5EF4-FFF2-40B4-BE49-F238E27FC236}">
                <a16:creationId xmlns:a16="http://schemas.microsoft.com/office/drawing/2014/main" id="{9C40B7C8-26A4-C6E9-2C1D-08670CD06AA9}"/>
              </a:ext>
            </a:extLst>
          </p:cNvPr>
          <p:cNvSpPr>
            <a:spLocks noGrp="1"/>
          </p:cNvSpPr>
          <p:nvPr>
            <p:ph idx="1"/>
          </p:nvPr>
        </p:nvSpPr>
        <p:spPr>
          <a:xfrm>
            <a:off x="1154954" y="2281287"/>
            <a:ext cx="8825659" cy="3738513"/>
          </a:xfrm>
        </p:spPr>
        <p:txBody>
          <a:bodyPr/>
          <a:lstStyle/>
          <a:p>
            <a:r>
              <a:rPr lang="en-US" sz="1800" b="0" i="0" u="none" strike="noStrike" baseline="0" dirty="0">
                <a:solidFill>
                  <a:srgbClr val="000000"/>
                </a:solidFill>
                <a:latin typeface="Times New Roman" panose="02020603050405020304" pitchFamily="18" charset="0"/>
              </a:rPr>
              <a:t>One of the most challenging tasks in the field of artificial intelligence is computer vision. This process involves connecting the various parts of a computer software to the visual representations we see around </a:t>
            </a:r>
            <a:r>
              <a:rPr lang="en-US" sz="1800" b="0" i="0" u="none" strike="noStrike" baseline="0" dirty="0" err="1">
                <a:solidFill>
                  <a:srgbClr val="000000"/>
                </a:solidFill>
                <a:latin typeface="Times New Roman" panose="02020603050405020304" pitchFamily="18" charset="0"/>
              </a:rPr>
              <a:t>us.Through</a:t>
            </a:r>
            <a:r>
              <a:rPr lang="en-US" sz="1800" b="0" i="0" u="none" strike="noStrike" baseline="0" dirty="0">
                <a:solidFill>
                  <a:srgbClr val="000000"/>
                </a:solidFill>
                <a:latin typeface="Times New Roman" panose="02020603050405020304" pitchFamily="18" charset="0"/>
              </a:rPr>
              <a:t> computer vision, software can learn about the visual representations in its environment. For instance, by determining the size and color of a fruit, its shape and appearance the type of fruit and its quality can be classified. The goal of computer vision is to provide a more accurate and useful information to humans. It can also help us identify and understand the various elements of the visual representations around us[1][2]. The term "</a:t>
            </a:r>
            <a:r>
              <a:rPr lang="en-US" sz="1800" b="0" i="0" u="none" strike="noStrike" baseline="0" dirty="0" err="1">
                <a:solidFill>
                  <a:srgbClr val="000000"/>
                </a:solidFill>
                <a:latin typeface="Times New Roman" panose="02020603050405020304" pitchFamily="18" charset="0"/>
              </a:rPr>
              <a:t>openCV</a:t>
            </a:r>
            <a:r>
              <a:rPr lang="en-US" sz="1800" b="0" i="0" u="none" strike="noStrike" baseline="0" dirty="0">
                <a:solidFill>
                  <a:srgbClr val="000000"/>
                </a:solidFill>
                <a:latin typeface="Times New Roman" panose="02020603050405020304" pitchFamily="18" charset="0"/>
              </a:rPr>
              <a:t>" refers to an open-source framework that enables the development of computer vision applications. It includes various software components and plugins that can be used to integrate these applications[3]. The </a:t>
            </a:r>
            <a:r>
              <a:rPr lang="en-US" sz="1800" b="0" i="0" u="none" strike="noStrike" baseline="0" dirty="0" err="1">
                <a:solidFill>
                  <a:srgbClr val="000000"/>
                </a:solidFill>
                <a:latin typeface="Times New Roman" panose="02020603050405020304" pitchFamily="18" charset="0"/>
              </a:rPr>
              <a:t>openCV</a:t>
            </a:r>
            <a:r>
              <a:rPr lang="en-US" sz="1800" b="0" i="0" u="none" strike="noStrike" baseline="0" dirty="0">
                <a:solidFill>
                  <a:srgbClr val="000000"/>
                </a:solidFill>
                <a:latin typeface="Times New Roman" panose="02020603050405020304" pitchFamily="18" charset="0"/>
              </a:rPr>
              <a:t> framework has been released several times. It is free and open-source, and it can be used for various tasks such as numerical productivity. </a:t>
            </a:r>
            <a:endParaRPr lang="en-IN" dirty="0"/>
          </a:p>
        </p:txBody>
      </p:sp>
    </p:spTree>
    <p:extLst>
      <p:ext uri="{BB962C8B-B14F-4D97-AF65-F5344CB8AC3E}">
        <p14:creationId xmlns:p14="http://schemas.microsoft.com/office/powerpoint/2010/main" val="3795736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DB326-B9B4-8616-C777-75CD10840258}"/>
              </a:ext>
            </a:extLst>
          </p:cNvPr>
          <p:cNvSpPr>
            <a:spLocks noGrp="1"/>
          </p:cNvSpPr>
          <p:nvPr>
            <p:ph type="title"/>
          </p:nvPr>
        </p:nvSpPr>
        <p:spPr/>
        <p:txBody>
          <a:bodyPr/>
          <a:lstStyle/>
          <a:p>
            <a:br>
              <a:rPr lang="en-IN" sz="1800" b="0" i="0" u="none" strike="noStrike" baseline="0" dirty="0">
                <a:solidFill>
                  <a:srgbClr val="000000"/>
                </a:solidFill>
              </a:rPr>
            </a:br>
            <a:r>
              <a:rPr lang="en-IN" sz="2800" b="0" i="0" u="none" strike="noStrike" baseline="0" dirty="0" err="1">
                <a:solidFill>
                  <a:schemeClr val="accent4">
                    <a:lumMod val="60000"/>
                    <a:lumOff val="40000"/>
                  </a:schemeClr>
                </a:solidFill>
              </a:rPr>
              <a:t>Haar</a:t>
            </a:r>
            <a:r>
              <a:rPr lang="en-IN" sz="2800" b="0" i="0" u="none" strike="noStrike" baseline="0" dirty="0">
                <a:solidFill>
                  <a:schemeClr val="accent4">
                    <a:lumMod val="60000"/>
                    <a:lumOff val="40000"/>
                  </a:schemeClr>
                </a:solidFill>
              </a:rPr>
              <a:t> Cascade </a:t>
            </a:r>
            <a:br>
              <a:rPr lang="en-IN" sz="1800" b="0" i="0" u="none" strike="noStrike" baseline="0" dirty="0">
                <a:solidFill>
                  <a:srgbClr val="000000"/>
                </a:solidFill>
              </a:rPr>
            </a:br>
            <a:br>
              <a:rPr lang="en-IN" sz="1800" b="0" i="0" u="none" strike="noStrike" baseline="0" dirty="0">
                <a:solidFill>
                  <a:srgbClr val="000000"/>
                </a:solidFill>
              </a:rPr>
            </a:br>
            <a:endParaRPr lang="en-IN" dirty="0"/>
          </a:p>
        </p:txBody>
      </p:sp>
      <p:sp>
        <p:nvSpPr>
          <p:cNvPr id="3" name="Content Placeholder 2">
            <a:extLst>
              <a:ext uri="{FF2B5EF4-FFF2-40B4-BE49-F238E27FC236}">
                <a16:creationId xmlns:a16="http://schemas.microsoft.com/office/drawing/2014/main" id="{39080FB2-BFC0-B4CE-4C9E-FD36B6A9FC57}"/>
              </a:ext>
            </a:extLst>
          </p:cNvPr>
          <p:cNvSpPr>
            <a:spLocks noGrp="1"/>
          </p:cNvSpPr>
          <p:nvPr>
            <p:ph idx="1"/>
          </p:nvPr>
        </p:nvSpPr>
        <p:spPr>
          <a:xfrm>
            <a:off x="1154954" y="2224726"/>
            <a:ext cx="8825659" cy="4298622"/>
          </a:xfrm>
        </p:spPr>
        <p:txBody>
          <a:bodyPr/>
          <a:lstStyle/>
          <a:p>
            <a:r>
              <a:rPr lang="en-US" sz="1800" b="0" i="0" u="none" strike="noStrike" baseline="0" dirty="0">
                <a:solidFill>
                  <a:srgbClr val="000000"/>
                </a:solidFill>
                <a:latin typeface="Times New Roman" panose="02020603050405020304" pitchFamily="18" charset="0"/>
              </a:rPr>
              <a:t>The </a:t>
            </a:r>
            <a:r>
              <a:rPr lang="en-US" sz="1800" b="0" i="0" u="none" strike="noStrike" baseline="0" dirty="0" err="1">
                <a:solidFill>
                  <a:srgbClr val="000000"/>
                </a:solidFill>
                <a:latin typeface="Times New Roman" panose="02020603050405020304" pitchFamily="18" charset="0"/>
              </a:rPr>
              <a:t>Haar</a:t>
            </a:r>
            <a:r>
              <a:rPr lang="en-US" sz="1800" b="0" i="0" u="none" strike="noStrike" baseline="0" dirty="0">
                <a:solidFill>
                  <a:srgbClr val="000000"/>
                </a:solidFill>
                <a:latin typeface="Times New Roman" panose="02020603050405020304" pitchFamily="18" charset="0"/>
              </a:rPr>
              <a:t> Cascade method [3] is a machine-learning technique that can be used to detect objects. It learns from a series of images that have positive and negative characteristics. The </a:t>
            </a:r>
            <a:r>
              <a:rPr lang="en-US" sz="1800" b="0" i="0" u="none" strike="noStrike" baseline="0" dirty="0" err="1">
                <a:solidFill>
                  <a:srgbClr val="000000"/>
                </a:solidFill>
                <a:latin typeface="Times New Roman" panose="02020603050405020304" pitchFamily="18" charset="0"/>
              </a:rPr>
              <a:t>Haar</a:t>
            </a:r>
            <a:r>
              <a:rPr lang="en-US" sz="1800" b="0" i="0" u="none" strike="noStrike" baseline="0" dirty="0">
                <a:solidFill>
                  <a:srgbClr val="000000"/>
                </a:solidFill>
                <a:latin typeface="Times New Roman" panose="02020603050405020304" pitchFamily="18" charset="0"/>
              </a:rPr>
              <a:t> cascade method can be used to see objects in different frames. In the first image, the </a:t>
            </a:r>
            <a:r>
              <a:rPr lang="en-US" sz="1800" b="0" i="0" u="none" strike="noStrike" baseline="0" dirty="0" err="1">
                <a:solidFill>
                  <a:srgbClr val="000000"/>
                </a:solidFill>
                <a:latin typeface="Times New Roman" panose="02020603050405020304" pitchFamily="18" charset="0"/>
              </a:rPr>
              <a:t>Haar</a:t>
            </a:r>
            <a:r>
              <a:rPr lang="en-US" sz="1800" b="0" i="0" u="none" strike="noStrike" baseline="0" dirty="0">
                <a:solidFill>
                  <a:srgbClr val="000000"/>
                </a:solidFill>
                <a:latin typeface="Times New Roman" panose="02020603050405020304" pitchFamily="18" charset="0"/>
              </a:rPr>
              <a:t> cascade classifier shows the view of its operation. </a:t>
            </a:r>
            <a:endParaRPr lang="en-IN" dirty="0"/>
          </a:p>
        </p:txBody>
      </p:sp>
      <p:pic>
        <p:nvPicPr>
          <p:cNvPr id="5" name="Picture 4">
            <a:extLst>
              <a:ext uri="{FF2B5EF4-FFF2-40B4-BE49-F238E27FC236}">
                <a16:creationId xmlns:a16="http://schemas.microsoft.com/office/drawing/2014/main" id="{61F44211-0F0B-E50A-1C95-E176FC91925F}"/>
              </a:ext>
            </a:extLst>
          </p:cNvPr>
          <p:cNvPicPr>
            <a:picLocks noChangeAspect="1"/>
          </p:cNvPicPr>
          <p:nvPr/>
        </p:nvPicPr>
        <p:blipFill>
          <a:blip r:embed="rId2"/>
          <a:stretch>
            <a:fillRect/>
          </a:stretch>
        </p:blipFill>
        <p:spPr>
          <a:xfrm>
            <a:off x="2828041" y="3429000"/>
            <a:ext cx="5948314" cy="2767535"/>
          </a:xfrm>
          <a:prstGeom prst="rect">
            <a:avLst/>
          </a:prstGeom>
        </p:spPr>
      </p:pic>
    </p:spTree>
    <p:extLst>
      <p:ext uri="{BB962C8B-B14F-4D97-AF65-F5344CB8AC3E}">
        <p14:creationId xmlns:p14="http://schemas.microsoft.com/office/powerpoint/2010/main" val="558478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46C60-E6B2-0893-024F-A22BD5FE552E}"/>
              </a:ext>
            </a:extLst>
          </p:cNvPr>
          <p:cNvSpPr>
            <a:spLocks noGrp="1"/>
          </p:cNvSpPr>
          <p:nvPr>
            <p:ph type="title"/>
          </p:nvPr>
        </p:nvSpPr>
        <p:spPr>
          <a:xfrm>
            <a:off x="1296356" y="1209339"/>
            <a:ext cx="8761413" cy="706964"/>
          </a:xfrm>
        </p:spPr>
        <p:txBody>
          <a:bodyPr/>
          <a:lstStyle/>
          <a:p>
            <a:br>
              <a:rPr lang="en-IN" sz="1800" b="0" i="0" u="none" strike="noStrike" baseline="0" dirty="0">
                <a:solidFill>
                  <a:srgbClr val="000000"/>
                </a:solidFill>
                <a:latin typeface="Times New Roman" panose="02020603050405020304" pitchFamily="18" charset="0"/>
              </a:rPr>
            </a:br>
            <a:r>
              <a:rPr lang="en-IN" sz="2800" b="1" i="0" u="none" strike="noStrike" baseline="0" dirty="0">
                <a:solidFill>
                  <a:schemeClr val="accent4">
                    <a:lumMod val="40000"/>
                    <a:lumOff val="60000"/>
                  </a:schemeClr>
                </a:solidFill>
                <a:latin typeface="Times New Roman" panose="02020603050405020304" pitchFamily="18" charset="0"/>
              </a:rPr>
              <a:t>Local Binary Pattern </a:t>
            </a:r>
            <a:br>
              <a:rPr lang="en-IN" sz="1800" b="0" i="0" u="none" strike="noStrike" baseline="0" dirty="0">
                <a:solidFill>
                  <a:srgbClr val="000000"/>
                </a:solidFill>
                <a:latin typeface="Times New Roman" panose="02020603050405020304" pitchFamily="18" charset="0"/>
              </a:rPr>
            </a:br>
            <a:br>
              <a:rPr lang="en-IN" sz="1800" b="0" i="0" u="none" strike="noStrike" baseline="0" dirty="0">
                <a:solidFill>
                  <a:srgbClr val="000000"/>
                </a:solidFill>
                <a:latin typeface="Times New Roman" panose="02020603050405020304" pitchFamily="18" charset="0"/>
              </a:rPr>
            </a:br>
            <a:br>
              <a:rPr lang="en-IN" sz="18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32BB0E8-1DA8-3E33-6598-2C3CBAE2638C}"/>
              </a:ext>
            </a:extLst>
          </p:cNvPr>
          <p:cNvSpPr>
            <a:spLocks noGrp="1"/>
          </p:cNvSpPr>
          <p:nvPr>
            <p:ph idx="1"/>
          </p:nvPr>
        </p:nvSpPr>
        <p:spPr>
          <a:xfrm>
            <a:off x="1154954" y="2253006"/>
            <a:ext cx="8825659" cy="4317476"/>
          </a:xfrm>
        </p:spPr>
        <p:txBody>
          <a:bodyPr/>
          <a:lstStyle/>
          <a:p>
            <a:r>
              <a:rPr lang="en-US" sz="1800" b="1" i="0" u="none" strike="noStrike" baseline="0" dirty="0">
                <a:solidFill>
                  <a:srgbClr val="000000"/>
                </a:solidFill>
                <a:latin typeface="Times New Roman" panose="02020603050405020304" pitchFamily="18" charset="0"/>
              </a:rPr>
              <a:t>A local binary pattern (LBP) is a simple technique that labels images by region and number. It can be used to treat the resulting image as a binary number. Due to its computational simplicity and discriminative power, the LBP has become a popular technique for creating various image labels. </a:t>
            </a:r>
            <a:endParaRPr lang="en-IN" b="1" dirty="0"/>
          </a:p>
        </p:txBody>
      </p:sp>
      <p:pic>
        <p:nvPicPr>
          <p:cNvPr id="5" name="Picture 4">
            <a:extLst>
              <a:ext uri="{FF2B5EF4-FFF2-40B4-BE49-F238E27FC236}">
                <a16:creationId xmlns:a16="http://schemas.microsoft.com/office/drawing/2014/main" id="{D56DDE09-8F97-3F3B-E6C8-6FC69FEAE48E}"/>
              </a:ext>
            </a:extLst>
          </p:cNvPr>
          <p:cNvPicPr>
            <a:picLocks noChangeAspect="1"/>
          </p:cNvPicPr>
          <p:nvPr/>
        </p:nvPicPr>
        <p:blipFill>
          <a:blip r:embed="rId2"/>
          <a:stretch>
            <a:fillRect/>
          </a:stretch>
        </p:blipFill>
        <p:spPr>
          <a:xfrm>
            <a:off x="3799003" y="3497344"/>
            <a:ext cx="4798242" cy="3258949"/>
          </a:xfrm>
          <a:prstGeom prst="rect">
            <a:avLst/>
          </a:prstGeom>
        </p:spPr>
      </p:pic>
    </p:spTree>
    <p:extLst>
      <p:ext uri="{BB962C8B-B14F-4D97-AF65-F5344CB8AC3E}">
        <p14:creationId xmlns:p14="http://schemas.microsoft.com/office/powerpoint/2010/main" val="246015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C6C6-9AFD-9340-37AE-3FE8DB51EE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E1DB77-9169-3339-1BD9-F8E018033779}"/>
              </a:ext>
            </a:extLst>
          </p:cNvPr>
          <p:cNvSpPr>
            <a:spLocks noGrp="1"/>
          </p:cNvSpPr>
          <p:nvPr>
            <p:ph idx="1"/>
          </p:nvPr>
        </p:nvSpPr>
        <p:spPr>
          <a:xfrm>
            <a:off x="1154954" y="2234153"/>
            <a:ext cx="8825659" cy="3785647"/>
          </a:xfrm>
        </p:spPr>
        <p:txBody>
          <a:bodyPr>
            <a:normAutofit/>
          </a:bodyPr>
          <a:lstStyle/>
          <a:p>
            <a:pPr marL="0" indent="0">
              <a:buNone/>
            </a:pPr>
            <a:r>
              <a:rPr lang="en-IN" sz="1800" b="1" i="0" u="none" strike="noStrike" baseline="0" dirty="0">
                <a:solidFill>
                  <a:srgbClr val="000000"/>
                </a:solidFill>
                <a:latin typeface="Times New Roman" panose="02020603050405020304" pitchFamily="18" charset="0"/>
              </a:rPr>
              <a:t>Eigen Faces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In order to minimize the dimensionality of the images, the LBP is used to perform a Principal Component Analysis (PCA)[a] on the distribution of facial images. The goal of this process is to find the best possible vectors for each facial expression. The eigenvalue distribution is used to calculate the principal component amount of a facial image. This process is performed by taking into account the covariance matrix's eigenvalue and m eigenvector. </a:t>
            </a:r>
            <a:endParaRPr lang="en-IN" sz="1800" b="0" i="0" u="none" strike="noStrike" baseline="0" dirty="0">
              <a:solidFill>
                <a:srgbClr val="000000"/>
              </a:solidFill>
              <a:latin typeface="Times New Roman" panose="02020603050405020304" pitchFamily="18" charset="0"/>
            </a:endParaRPr>
          </a:p>
          <a:p>
            <a:r>
              <a:rPr lang="en-IN" sz="1800" b="1" i="0" u="none" strike="noStrike" baseline="0" dirty="0">
                <a:solidFill>
                  <a:srgbClr val="000000"/>
                </a:solidFill>
                <a:latin typeface="Times New Roman" panose="02020603050405020304" pitchFamily="18" charset="0"/>
              </a:rPr>
              <a:t>Fisher Faces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Face recognition has been a promising tool for researchers to identify people accurately. The Fisher Face model [b] combines the PCA and FLD[c] calculation models to perform a face recognition computation. </a:t>
            </a:r>
            <a:endParaRPr lang="en-IN" dirty="0"/>
          </a:p>
        </p:txBody>
      </p:sp>
    </p:spTree>
    <p:extLst>
      <p:ext uri="{BB962C8B-B14F-4D97-AF65-F5344CB8AC3E}">
        <p14:creationId xmlns:p14="http://schemas.microsoft.com/office/powerpoint/2010/main" val="2725513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FE7B-46CC-D17F-4A31-BD3FC9C019F1}"/>
              </a:ext>
            </a:extLst>
          </p:cNvPr>
          <p:cNvSpPr>
            <a:spLocks noGrp="1"/>
          </p:cNvSpPr>
          <p:nvPr>
            <p:ph type="title"/>
          </p:nvPr>
        </p:nvSpPr>
        <p:spPr>
          <a:xfrm>
            <a:off x="1154954" y="1473289"/>
            <a:ext cx="8761413" cy="706964"/>
          </a:xfrm>
        </p:spPr>
        <p:txBody>
          <a:bodyPr/>
          <a:lstStyle/>
          <a:p>
            <a:br>
              <a:rPr lang="en-IN" sz="1800" b="0" i="0" u="none" strike="noStrike" baseline="0" dirty="0">
                <a:solidFill>
                  <a:srgbClr val="000000"/>
                </a:solidFill>
              </a:rPr>
            </a:br>
            <a:r>
              <a:rPr lang="en-IN" sz="2800" b="0" i="0" u="none" strike="noStrike" baseline="0" dirty="0">
                <a:solidFill>
                  <a:schemeClr val="accent4">
                    <a:lumMod val="40000"/>
                    <a:lumOff val="60000"/>
                  </a:schemeClr>
                </a:solidFill>
              </a:rPr>
              <a:t>LBPH </a:t>
            </a:r>
            <a:br>
              <a:rPr lang="en-IN" sz="1800" b="0" i="0" u="none" strike="noStrike" baseline="0" dirty="0">
                <a:solidFill>
                  <a:srgbClr val="000000"/>
                </a:solidFill>
              </a:rPr>
            </a:br>
            <a:br>
              <a:rPr lang="en-IN" sz="1800" b="0" i="0" u="none" strike="noStrike" baseline="0" dirty="0">
                <a:solidFill>
                  <a:srgbClr val="000000"/>
                </a:solidFill>
              </a:rPr>
            </a:br>
            <a:br>
              <a:rPr lang="en-IN" sz="1800" b="0" i="0" u="none" strike="noStrike" baseline="0" dirty="0">
                <a:solidFill>
                  <a:srgbClr val="000000"/>
                </a:solidFill>
              </a:rPr>
            </a:br>
            <a:br>
              <a:rPr lang="en-IN" sz="1800" b="0" i="0" u="none" strike="noStrike" baseline="0" dirty="0">
                <a:solidFill>
                  <a:srgbClr val="000000"/>
                </a:solidFill>
              </a:rPr>
            </a:br>
            <a:endParaRPr lang="en-IN" dirty="0"/>
          </a:p>
        </p:txBody>
      </p:sp>
      <p:sp>
        <p:nvSpPr>
          <p:cNvPr id="3" name="Content Placeholder 2">
            <a:extLst>
              <a:ext uri="{FF2B5EF4-FFF2-40B4-BE49-F238E27FC236}">
                <a16:creationId xmlns:a16="http://schemas.microsoft.com/office/drawing/2014/main" id="{1B869B34-2B52-8F90-6038-07D3365AAC33}"/>
              </a:ext>
            </a:extLst>
          </p:cNvPr>
          <p:cNvSpPr>
            <a:spLocks noGrp="1"/>
          </p:cNvSpPr>
          <p:nvPr>
            <p:ph idx="1"/>
          </p:nvPr>
        </p:nvSpPr>
        <p:spPr>
          <a:xfrm>
            <a:off x="1154954" y="2253006"/>
            <a:ext cx="8825659" cy="3766794"/>
          </a:xfrm>
        </p:spPr>
        <p:txBody>
          <a:bodyPr/>
          <a:lstStyle/>
          <a:p>
            <a:r>
              <a:rPr lang="en-US" sz="1800" b="0" i="0" u="none" strike="noStrike" baseline="0" dirty="0">
                <a:solidFill>
                  <a:srgbClr val="000000"/>
                </a:solidFill>
                <a:latin typeface="Times New Roman" panose="02020603050405020304" pitchFamily="18" charset="0"/>
              </a:rPr>
              <a:t>The LBP texture operator is a widely used technique in various applications, such as facial recognition. It takes into account the various outcomes of a given binary number by comparing the values of the center and the neighboring pixels. This technique was first identified in 1994. Since then, the LBP algorithm has evolved into a more accurate and efficient method for classification of textures. </a:t>
            </a:r>
            <a:endParaRPr lang="en-IN" dirty="0"/>
          </a:p>
        </p:txBody>
      </p:sp>
      <p:pic>
        <p:nvPicPr>
          <p:cNvPr id="5" name="Picture 4">
            <a:extLst>
              <a:ext uri="{FF2B5EF4-FFF2-40B4-BE49-F238E27FC236}">
                <a16:creationId xmlns:a16="http://schemas.microsoft.com/office/drawing/2014/main" id="{7370DE28-1CC6-7892-DF57-0D852E333E8B}"/>
              </a:ext>
            </a:extLst>
          </p:cNvPr>
          <p:cNvPicPr>
            <a:picLocks noChangeAspect="1"/>
          </p:cNvPicPr>
          <p:nvPr/>
        </p:nvPicPr>
        <p:blipFill>
          <a:blip r:embed="rId2"/>
          <a:stretch>
            <a:fillRect/>
          </a:stretch>
        </p:blipFill>
        <p:spPr>
          <a:xfrm>
            <a:off x="1959492" y="3828285"/>
            <a:ext cx="6147560" cy="2016334"/>
          </a:xfrm>
          <a:prstGeom prst="rect">
            <a:avLst/>
          </a:prstGeom>
        </p:spPr>
      </p:pic>
    </p:spTree>
    <p:extLst>
      <p:ext uri="{BB962C8B-B14F-4D97-AF65-F5344CB8AC3E}">
        <p14:creationId xmlns:p14="http://schemas.microsoft.com/office/powerpoint/2010/main" val="41117508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95EA-F1D8-BEB9-738C-841BC98D2512}"/>
              </a:ext>
            </a:extLst>
          </p:cNvPr>
          <p:cNvSpPr>
            <a:spLocks noGrp="1"/>
          </p:cNvSpPr>
          <p:nvPr>
            <p:ph type="title"/>
          </p:nvPr>
        </p:nvSpPr>
        <p:spPr>
          <a:xfrm>
            <a:off x="1187076" y="484718"/>
            <a:ext cx="8761413" cy="706964"/>
          </a:xfrm>
        </p:spPr>
        <p:txBody>
          <a:bodyPr/>
          <a:lstStyle/>
          <a:p>
            <a:br>
              <a:rPr lang="en-IN" sz="1800" b="0" i="0" u="none" strike="noStrike" baseline="0" dirty="0">
                <a:solidFill>
                  <a:srgbClr val="000000"/>
                </a:solidFill>
              </a:rPr>
            </a:br>
            <a:r>
              <a:rPr lang="en-IN" sz="1800" b="0" i="0" u="none" strike="noStrike" baseline="0" dirty="0">
                <a:solidFill>
                  <a:srgbClr val="000000"/>
                </a:solidFill>
              </a:rPr>
              <a:t> </a:t>
            </a:r>
            <a:br>
              <a:rPr lang="en-IN" sz="1800" b="0" i="0" u="none" strike="noStrike" baseline="0" dirty="0">
                <a:solidFill>
                  <a:srgbClr val="000000"/>
                </a:solidFill>
              </a:rPr>
            </a:br>
            <a:br>
              <a:rPr lang="en-IN" sz="1800" b="0" i="0" u="none" strike="noStrike" baseline="0" dirty="0">
                <a:solidFill>
                  <a:srgbClr val="000000"/>
                </a:solidFill>
              </a:rPr>
            </a:br>
            <a:br>
              <a:rPr lang="en-IN" sz="1800" b="0" i="0" u="none" strike="noStrike" baseline="0" dirty="0">
                <a:solidFill>
                  <a:srgbClr val="000000"/>
                </a:solidFill>
              </a:rPr>
            </a:br>
            <a:br>
              <a:rPr lang="en-IN" sz="1800" b="0" i="0" u="none" strike="noStrike" baseline="0" dirty="0">
                <a:solidFill>
                  <a:srgbClr val="000000"/>
                </a:solidFill>
              </a:rPr>
            </a:br>
            <a:r>
              <a:rPr lang="en-IN" dirty="0">
                <a:solidFill>
                  <a:schemeClr val="accent4">
                    <a:lumMod val="40000"/>
                    <a:lumOff val="60000"/>
                  </a:schemeClr>
                </a:solidFill>
              </a:rPr>
              <a:t>YOLO</a:t>
            </a:r>
            <a:endParaRPr lang="en-IN" dirty="0"/>
          </a:p>
        </p:txBody>
      </p:sp>
      <p:sp>
        <p:nvSpPr>
          <p:cNvPr id="3" name="Content Placeholder 2">
            <a:extLst>
              <a:ext uri="{FF2B5EF4-FFF2-40B4-BE49-F238E27FC236}">
                <a16:creationId xmlns:a16="http://schemas.microsoft.com/office/drawing/2014/main" id="{0439845E-A5B5-CACC-845B-4A7495063BD0}"/>
              </a:ext>
            </a:extLst>
          </p:cNvPr>
          <p:cNvSpPr>
            <a:spLocks noGrp="1"/>
          </p:cNvSpPr>
          <p:nvPr>
            <p:ph idx="1"/>
          </p:nvPr>
        </p:nvSpPr>
        <p:spPr>
          <a:xfrm>
            <a:off x="1154954" y="2196445"/>
            <a:ext cx="8825659" cy="3823355"/>
          </a:xfrm>
        </p:spPr>
        <p:txBody>
          <a:bodyPr/>
          <a:lstStyle/>
          <a:p>
            <a:r>
              <a:rPr lang="en-US" sz="1800" b="0" i="0" u="none" strike="noStrike" baseline="0" dirty="0">
                <a:solidFill>
                  <a:srgbClr val="000000"/>
                </a:solidFill>
                <a:latin typeface="Times New Roman" panose="02020603050405020304" pitchFamily="18" charset="0"/>
              </a:rPr>
              <a:t>The Yolo system [4.2] is a real-time object detection system which only works once. It takes advantage of a single neural network to process an image[16]. The network then breaks the image into sections and estimates the probabilities of each box </a:t>
            </a:r>
            <a:endParaRPr lang="en-IN" dirty="0"/>
          </a:p>
        </p:txBody>
      </p:sp>
      <p:pic>
        <p:nvPicPr>
          <p:cNvPr id="5" name="Picture 4">
            <a:extLst>
              <a:ext uri="{FF2B5EF4-FFF2-40B4-BE49-F238E27FC236}">
                <a16:creationId xmlns:a16="http://schemas.microsoft.com/office/drawing/2014/main" id="{D2A7580D-23A2-B051-8A0B-34BD9C104AF5}"/>
              </a:ext>
            </a:extLst>
          </p:cNvPr>
          <p:cNvPicPr>
            <a:picLocks noChangeAspect="1"/>
          </p:cNvPicPr>
          <p:nvPr/>
        </p:nvPicPr>
        <p:blipFill>
          <a:blip r:embed="rId2"/>
          <a:stretch>
            <a:fillRect/>
          </a:stretch>
        </p:blipFill>
        <p:spPr>
          <a:xfrm>
            <a:off x="1889255" y="3192294"/>
            <a:ext cx="6557161" cy="2827506"/>
          </a:xfrm>
          <a:prstGeom prst="rect">
            <a:avLst/>
          </a:prstGeom>
        </p:spPr>
      </p:pic>
    </p:spTree>
    <p:extLst>
      <p:ext uri="{BB962C8B-B14F-4D97-AF65-F5344CB8AC3E}">
        <p14:creationId xmlns:p14="http://schemas.microsoft.com/office/powerpoint/2010/main" val="1509318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98C96-A324-7F8A-17EE-60BEC81DC0FC}"/>
              </a:ext>
            </a:extLst>
          </p:cNvPr>
          <p:cNvSpPr>
            <a:spLocks noGrp="1"/>
          </p:cNvSpPr>
          <p:nvPr>
            <p:ph type="title"/>
          </p:nvPr>
        </p:nvSpPr>
        <p:spPr>
          <a:xfrm>
            <a:off x="1154954" y="1407301"/>
            <a:ext cx="8761413" cy="706964"/>
          </a:xfrm>
        </p:spPr>
        <p:txBody>
          <a:bodyPr/>
          <a:lstStyle/>
          <a:p>
            <a:br>
              <a:rPr lang="en-IN" sz="1800" b="0" i="0" u="none" strike="noStrike" baseline="0" dirty="0">
                <a:solidFill>
                  <a:srgbClr val="000000"/>
                </a:solidFill>
                <a:latin typeface="Times New Roman" panose="02020603050405020304" pitchFamily="18" charset="0"/>
              </a:rPr>
            </a:br>
            <a:r>
              <a:rPr lang="en-IN" sz="2800" b="1" i="0" u="none" strike="noStrike" baseline="0" dirty="0">
                <a:solidFill>
                  <a:schemeClr val="accent4">
                    <a:lumMod val="40000"/>
                    <a:lumOff val="60000"/>
                  </a:schemeClr>
                </a:solidFill>
                <a:latin typeface="Times New Roman" panose="02020603050405020304" pitchFamily="18" charset="0"/>
              </a:rPr>
              <a:t>Single Shot Detectors (SSDs</a:t>
            </a:r>
            <a:r>
              <a:rPr lang="en-IN" sz="1800" b="1" i="0" u="none" strike="noStrike" baseline="0" dirty="0">
                <a:solidFill>
                  <a:srgbClr val="000000"/>
                </a:solidFill>
                <a:latin typeface="Times New Roman" panose="02020603050405020304" pitchFamily="18" charset="0"/>
              </a:rPr>
              <a:t>) </a:t>
            </a:r>
            <a:br>
              <a:rPr lang="en-IN" sz="1800" b="0" i="0" u="none" strike="noStrike" baseline="0" dirty="0">
                <a:solidFill>
                  <a:srgbClr val="000000"/>
                </a:solidFill>
                <a:latin typeface="Times New Roman" panose="02020603050405020304" pitchFamily="18" charset="0"/>
              </a:rPr>
            </a:br>
            <a:br>
              <a:rPr lang="en-IN" sz="1800" b="0" i="0" u="none" strike="noStrike" baseline="0" dirty="0">
                <a:solidFill>
                  <a:srgbClr val="000000"/>
                </a:solidFill>
                <a:latin typeface="Times New Roman" panose="02020603050405020304" pitchFamily="18" charset="0"/>
              </a:rPr>
            </a:br>
            <a:br>
              <a:rPr lang="en-IN" sz="1800" b="0" i="0" u="none" strike="noStrike" baseline="0" dirty="0">
                <a:solidFill>
                  <a:srgbClr val="000000"/>
                </a:solidFill>
                <a:latin typeface="Times New Roman" panose="02020603050405020304" pitchFamily="18" charset="0"/>
              </a:rPr>
            </a:br>
            <a:br>
              <a:rPr lang="en-IN" sz="18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15F0C6F-EB82-5E09-3069-931B4064310B}"/>
              </a:ext>
            </a:extLst>
          </p:cNvPr>
          <p:cNvSpPr>
            <a:spLocks noGrp="1"/>
          </p:cNvSpPr>
          <p:nvPr>
            <p:ph idx="1"/>
          </p:nvPr>
        </p:nvSpPr>
        <p:spPr>
          <a:xfrm>
            <a:off x="1154954" y="2290713"/>
            <a:ext cx="8825659" cy="3729087"/>
          </a:xfrm>
        </p:spPr>
        <p:txBody>
          <a:bodyPr/>
          <a:lstStyle/>
          <a:p>
            <a:r>
              <a:rPr lang="en-US" sz="1800" b="0" i="0" u="none" strike="noStrike" baseline="0" dirty="0">
                <a:solidFill>
                  <a:srgbClr val="000000"/>
                </a:solidFill>
                <a:latin typeface="Times New Roman" panose="02020603050405020304" pitchFamily="18" charset="0"/>
              </a:rPr>
              <a:t>The feed-forward single shot detector (SSD) is a method that generates a border-box array consisting of class-based entity instances in a set of boxes. It then generates a final detection by preserving the original image classification design[16][20]. </a:t>
            </a:r>
            <a:endParaRPr lang="en-IN" dirty="0"/>
          </a:p>
        </p:txBody>
      </p:sp>
      <p:pic>
        <p:nvPicPr>
          <p:cNvPr id="5" name="Picture 4">
            <a:extLst>
              <a:ext uri="{FF2B5EF4-FFF2-40B4-BE49-F238E27FC236}">
                <a16:creationId xmlns:a16="http://schemas.microsoft.com/office/drawing/2014/main" id="{43A03907-7FCF-6403-B8D0-77BBA0A5A479}"/>
              </a:ext>
            </a:extLst>
          </p:cNvPr>
          <p:cNvPicPr>
            <a:picLocks noChangeAspect="1"/>
          </p:cNvPicPr>
          <p:nvPr/>
        </p:nvPicPr>
        <p:blipFill>
          <a:blip r:embed="rId2"/>
          <a:stretch>
            <a:fillRect/>
          </a:stretch>
        </p:blipFill>
        <p:spPr>
          <a:xfrm>
            <a:off x="4062598" y="3231404"/>
            <a:ext cx="5373631" cy="3301371"/>
          </a:xfrm>
          <a:prstGeom prst="rect">
            <a:avLst/>
          </a:prstGeom>
        </p:spPr>
      </p:pic>
    </p:spTree>
    <p:extLst>
      <p:ext uri="{BB962C8B-B14F-4D97-AF65-F5344CB8AC3E}">
        <p14:creationId xmlns:p14="http://schemas.microsoft.com/office/powerpoint/2010/main" val="22743631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4C0FA-DDAE-7D27-586E-E73F393668D4}"/>
              </a:ext>
            </a:extLst>
          </p:cNvPr>
          <p:cNvSpPr>
            <a:spLocks noGrp="1"/>
          </p:cNvSpPr>
          <p:nvPr>
            <p:ph type="title"/>
          </p:nvPr>
        </p:nvSpPr>
        <p:spPr/>
        <p:txBody>
          <a:bodyPr/>
          <a:lstStyle/>
          <a:p>
            <a:r>
              <a:rPr lang="en-IN" sz="3200" b="1" i="0" u="none" strike="noStrike" baseline="0" dirty="0">
                <a:solidFill>
                  <a:schemeClr val="accent4">
                    <a:lumMod val="40000"/>
                    <a:lumOff val="60000"/>
                  </a:schemeClr>
                </a:solidFill>
                <a:latin typeface="Times New Roman" panose="02020603050405020304" pitchFamily="18" charset="0"/>
              </a:rPr>
              <a:t>CHAPTER-5 SOFTWARE USED </a:t>
            </a:r>
            <a:endParaRPr lang="en-IN" sz="3200" dirty="0">
              <a:solidFill>
                <a:schemeClr val="accent4">
                  <a:lumMod val="40000"/>
                  <a:lumOff val="60000"/>
                </a:schemeClr>
              </a:solidFill>
            </a:endParaRPr>
          </a:p>
        </p:txBody>
      </p:sp>
      <p:sp>
        <p:nvSpPr>
          <p:cNvPr id="3" name="Content Placeholder 2">
            <a:extLst>
              <a:ext uri="{FF2B5EF4-FFF2-40B4-BE49-F238E27FC236}">
                <a16:creationId xmlns:a16="http://schemas.microsoft.com/office/drawing/2014/main" id="{8E7B08CB-DA9D-4167-CBC7-286906C96FE9}"/>
              </a:ext>
            </a:extLst>
          </p:cNvPr>
          <p:cNvSpPr>
            <a:spLocks noGrp="1"/>
          </p:cNvSpPr>
          <p:nvPr>
            <p:ph idx="1"/>
          </p:nvPr>
        </p:nvSpPr>
        <p:spPr/>
        <p:txBody>
          <a:bodyPr>
            <a:normAutofit fontScale="85000" lnSpcReduction="20000"/>
          </a:bodyPr>
          <a:lstStyle/>
          <a:p>
            <a:r>
              <a:rPr lang="en-IN" sz="1800" b="1" i="0" u="none" strike="noStrike" baseline="0" dirty="0">
                <a:solidFill>
                  <a:srgbClr val="000000"/>
                </a:solidFill>
                <a:latin typeface="Times New Roman" panose="02020603050405020304" pitchFamily="18" charset="0"/>
              </a:rPr>
              <a:t>Main Modules </a:t>
            </a:r>
            <a:endParaRPr lang="en-IN" sz="1800" b="0" i="0" u="none" strike="noStrike" baseline="0" dirty="0">
              <a:solidFill>
                <a:srgbClr val="000000"/>
              </a:solidFill>
              <a:latin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rPr>
              <a:t>Main modules are the main components of OpenCV and are included in the package versions by necessity. They are called core modules since they include essential functions, including image recognition, filtering, and transformation </a:t>
            </a:r>
            <a:endParaRPr lang="en-IN" sz="1800" b="0" i="0" u="none" strike="noStrike" baseline="0" dirty="0">
              <a:solidFill>
                <a:srgbClr val="000000"/>
              </a:solidFill>
              <a:latin typeface="Wingdings" panose="05000000000000000000" pitchFamily="2" charset="2"/>
            </a:endParaRPr>
          </a:p>
          <a:p>
            <a:r>
              <a:rPr lang="en-IN" sz="1800" b="1" i="0" u="none" strike="noStrike" baseline="0" dirty="0">
                <a:solidFill>
                  <a:srgbClr val="000000"/>
                </a:solidFill>
                <a:latin typeface="Times New Roman" panose="02020603050405020304" pitchFamily="18" charset="0"/>
              </a:rPr>
              <a:t>Extra Modules </a:t>
            </a:r>
            <a:endParaRPr lang="en-IN"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Extra modules are not included in the OpenCV release by default. Additional machine vision functionalities, such as text detection, are applied to these modules [21]. </a:t>
            </a:r>
            <a:endParaRPr lang="en-US"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Times New Roman" panose="02020603050405020304" pitchFamily="18" charset="0"/>
              </a:rPr>
              <a:t>The main modules are described below: </a:t>
            </a:r>
          </a:p>
          <a:p>
            <a:pPr marL="0" indent="0">
              <a:buNone/>
            </a:pPr>
            <a:r>
              <a:rPr lang="en-US" sz="1800" b="0" i="0" u="none" strike="noStrike" baseline="0" dirty="0">
                <a:solidFill>
                  <a:srgbClr val="000000"/>
                </a:solidFill>
                <a:latin typeface="Wingdings" panose="05000000000000000000" pitchFamily="2" charset="2"/>
              </a:rPr>
              <a:t> </a:t>
            </a:r>
            <a:r>
              <a:rPr lang="en-US" sz="1800" b="0" i="0" u="none" strike="noStrike" baseline="0" dirty="0">
                <a:solidFill>
                  <a:srgbClr val="000000"/>
                </a:solidFill>
                <a:latin typeface="Times New Roman" panose="02020603050405020304" pitchFamily="18" charset="0"/>
              </a:rPr>
              <a:t>Core: Have most of OpenCV's core features. </a:t>
            </a:r>
            <a:endParaRPr lang="en-US"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Wingdings" panose="05000000000000000000" pitchFamily="2" charset="2"/>
              </a:rPr>
              <a:t> </a:t>
            </a:r>
            <a:r>
              <a:rPr lang="en-US" sz="1800" b="0" i="0" u="none" strike="noStrike" baseline="0" dirty="0" err="1">
                <a:solidFill>
                  <a:srgbClr val="000000"/>
                </a:solidFill>
                <a:latin typeface="Times New Roman" panose="02020603050405020304" pitchFamily="18" charset="0"/>
              </a:rPr>
              <a:t>Imgproc</a:t>
            </a:r>
            <a:r>
              <a:rPr lang="en-US" sz="1800" b="0" i="0" u="none" strike="noStrike" baseline="0" dirty="0">
                <a:solidFill>
                  <a:srgbClr val="000000"/>
                </a:solidFill>
                <a:latin typeface="Times New Roman" panose="02020603050405020304" pitchFamily="18" charset="0"/>
              </a:rPr>
              <a:t>: Picture processing tools such as transforms, manipulations, and filtering are used. </a:t>
            </a:r>
            <a:endParaRPr lang="en-US"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Wingdings" panose="05000000000000000000" pitchFamily="2" charset="2"/>
              </a:rPr>
              <a:t> </a:t>
            </a:r>
            <a:r>
              <a:rPr lang="en-US" sz="1800" b="0" i="0" u="none" strike="noStrike" baseline="0" dirty="0" err="1">
                <a:solidFill>
                  <a:srgbClr val="000000"/>
                </a:solidFill>
                <a:latin typeface="Times New Roman" panose="02020603050405020304" pitchFamily="18" charset="0"/>
              </a:rPr>
              <a:t>Imgcodecs</a:t>
            </a:r>
            <a:r>
              <a:rPr lang="en-US" sz="1800" b="0" i="0" u="none" strike="noStrike" baseline="0" dirty="0">
                <a:solidFill>
                  <a:srgbClr val="000000"/>
                </a:solidFill>
                <a:latin typeface="Times New Roman" panose="02020603050405020304" pitchFamily="18" charset="0"/>
              </a:rPr>
              <a:t>: Image reading/writing features are included. </a:t>
            </a:r>
            <a:endParaRPr lang="en-US" sz="1800" b="0" i="0" u="none" strike="noStrike" baseline="0" dirty="0">
              <a:solidFill>
                <a:srgbClr val="000000"/>
              </a:solidFill>
              <a:latin typeface="Wingdings" panose="05000000000000000000" pitchFamily="2" charset="2"/>
            </a:endParaRPr>
          </a:p>
          <a:p>
            <a:pPr marL="0" indent="0">
              <a:buNone/>
            </a:pPr>
            <a:r>
              <a:rPr lang="en-US" sz="1800" b="0" i="0" u="none" strike="noStrike" baseline="0" dirty="0">
                <a:solidFill>
                  <a:srgbClr val="000000"/>
                </a:solidFill>
                <a:latin typeface="Wingdings" panose="05000000000000000000" pitchFamily="2" charset="2"/>
              </a:rPr>
              <a:t> </a:t>
            </a:r>
            <a:r>
              <a:rPr lang="en-US" sz="1800" b="0" i="0" u="none" strike="noStrike" baseline="0" dirty="0" err="1">
                <a:solidFill>
                  <a:srgbClr val="000000"/>
                </a:solidFill>
                <a:latin typeface="Times New Roman" panose="02020603050405020304" pitchFamily="18" charset="0"/>
              </a:rPr>
              <a:t>Videoio</a:t>
            </a:r>
            <a:r>
              <a:rPr lang="en-US" sz="1800" b="0" i="0" u="none" strike="noStrike" baseline="0" dirty="0">
                <a:solidFill>
                  <a:srgbClr val="000000"/>
                </a:solidFill>
                <a:latin typeface="Times New Roman" panose="02020603050405020304" pitchFamily="18" charset="0"/>
              </a:rPr>
              <a:t>: Video reading/writing features are included. </a:t>
            </a:r>
            <a:endParaRPr lang="en-IN" sz="1800" b="0" i="0" u="none" strike="noStrike" baseline="0" dirty="0">
              <a:solidFill>
                <a:srgbClr val="000000"/>
              </a:solidFill>
              <a:latin typeface="Wingdings" panose="05000000000000000000" pitchFamily="2" charset="2"/>
            </a:endParaRPr>
          </a:p>
          <a:p>
            <a:endParaRPr lang="en-IN" dirty="0"/>
          </a:p>
        </p:txBody>
      </p:sp>
    </p:spTree>
    <p:extLst>
      <p:ext uri="{BB962C8B-B14F-4D97-AF65-F5344CB8AC3E}">
        <p14:creationId xmlns:p14="http://schemas.microsoft.com/office/powerpoint/2010/main" val="1494039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19084B-F642-9E97-09DE-78A9D0E89E6C}"/>
              </a:ext>
            </a:extLst>
          </p:cNvPr>
          <p:cNvPicPr>
            <a:picLocks noChangeAspect="1"/>
          </p:cNvPicPr>
          <p:nvPr/>
        </p:nvPicPr>
        <p:blipFill>
          <a:blip r:embed="rId2"/>
          <a:stretch>
            <a:fillRect/>
          </a:stretch>
        </p:blipFill>
        <p:spPr>
          <a:xfrm>
            <a:off x="1781667" y="461913"/>
            <a:ext cx="8559538" cy="6314019"/>
          </a:xfrm>
          <a:prstGeom prst="rect">
            <a:avLst/>
          </a:prstGeom>
        </p:spPr>
      </p:pic>
    </p:spTree>
    <p:extLst>
      <p:ext uri="{BB962C8B-B14F-4D97-AF65-F5344CB8AC3E}">
        <p14:creationId xmlns:p14="http://schemas.microsoft.com/office/powerpoint/2010/main" val="534216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DBE3D-CAAF-C4E1-4C25-931169823536}"/>
              </a:ext>
            </a:extLst>
          </p:cNvPr>
          <p:cNvSpPr>
            <a:spLocks noGrp="1"/>
          </p:cNvSpPr>
          <p:nvPr>
            <p:ph type="title"/>
          </p:nvPr>
        </p:nvSpPr>
        <p:spPr/>
        <p:txBody>
          <a:bodyPr/>
          <a:lstStyle/>
          <a:p>
            <a:r>
              <a:rPr lang="en-IN" sz="2800" b="1" i="0" u="none" strike="noStrike" baseline="0" dirty="0">
                <a:solidFill>
                  <a:schemeClr val="accent4">
                    <a:lumMod val="40000"/>
                    <a:lumOff val="60000"/>
                  </a:schemeClr>
                </a:solidFill>
                <a:latin typeface="Times New Roman" panose="02020603050405020304" pitchFamily="18" charset="0"/>
              </a:rPr>
              <a:t>OpenCV based on Python </a:t>
            </a:r>
            <a:br>
              <a:rPr lang="en-IN" sz="36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6A97A475-B9CE-89CF-9041-578F71FA496A}"/>
              </a:ext>
            </a:extLst>
          </p:cNvPr>
          <p:cNvSpPr>
            <a:spLocks noGrp="1"/>
          </p:cNvSpPr>
          <p:nvPr>
            <p:ph idx="1"/>
          </p:nvPr>
        </p:nvSpPr>
        <p:spPr/>
        <p:txBody>
          <a:bodyPr>
            <a:normAutofit fontScale="92500" lnSpcReduction="10000"/>
          </a:bodyPr>
          <a:lstStyle/>
          <a:p>
            <a:r>
              <a:rPr lang="en-US" sz="1800" b="0" i="0" u="none" strike="noStrike" baseline="0" dirty="0">
                <a:solidFill>
                  <a:srgbClr val="000000"/>
                </a:solidFill>
                <a:latin typeface="Times New Roman" panose="02020603050405020304" pitchFamily="18" charset="0"/>
              </a:rPr>
              <a:t>Guido van Rossum created the Python programming language to make it easy to understand. He wanted to reduce the number of characters in the code to make it easier for the programmer to communicate. Compared to other programming languages, such as C/C++, Python is slower. However, it can be used to expand the capabilities of C/C++. Also, Python is very flexible. The C++ function that adds a function to the output of a program helps in the implementation of C++ code. This can be used to create various modules in Python. One of the main advantages of using Python is that it is as fast as C++. Also, it is very easy to program in. Through the use of the open CV function, you can also create various applications that are easy to implement. The implementation of Python is built on top of the C++ code. Also, the contributions of the other libraries, such as the </a:t>
            </a:r>
            <a:r>
              <a:rPr lang="en-US" sz="1800" b="0" i="0" u="none" strike="noStrike" baseline="0" dirty="0" err="1">
                <a:solidFill>
                  <a:srgbClr val="000000"/>
                </a:solidFill>
                <a:latin typeface="Times New Roman" panose="02020603050405020304" pitchFamily="18" charset="0"/>
              </a:rPr>
              <a:t>numpy</a:t>
            </a:r>
            <a:r>
              <a:rPr lang="en-US" sz="1800" b="0" i="0" u="none" strike="noStrike" baseline="0" dirty="0">
                <a:solidFill>
                  <a:srgbClr val="000000"/>
                </a:solidFill>
                <a:latin typeface="Times New Roman" panose="02020603050405020304" pitchFamily="18" charset="0"/>
              </a:rPr>
              <a:t>, help in the development of high-level statistical applications. In addition to the C++ code, the implementation of Python also takes advantage of the various features of the </a:t>
            </a:r>
            <a:r>
              <a:rPr lang="en-US" sz="1800" b="0" i="0" u="none" strike="noStrike" baseline="0" dirty="0" err="1">
                <a:solidFill>
                  <a:srgbClr val="000000"/>
                </a:solidFill>
                <a:latin typeface="Times New Roman" panose="02020603050405020304" pitchFamily="18" charset="0"/>
              </a:rPr>
              <a:t>openCV</a:t>
            </a:r>
            <a:r>
              <a:rPr lang="en-US" sz="1800" b="0" i="0" u="none" strike="noStrike" baseline="0" dirty="0">
                <a:solidFill>
                  <a:srgbClr val="000000"/>
                </a:solidFill>
                <a:latin typeface="Times New Roman" panose="02020603050405020304" pitchFamily="18" charset="0"/>
              </a:rPr>
              <a:t> function. It can convert various OpenCV structures into the appropriate </a:t>
            </a:r>
            <a:r>
              <a:rPr lang="en-US" sz="1800" b="0" i="0" u="none" strike="noStrike" baseline="0" dirty="0" err="1">
                <a:solidFill>
                  <a:srgbClr val="000000"/>
                </a:solidFill>
                <a:latin typeface="Times New Roman" panose="02020603050405020304" pitchFamily="18" charset="0"/>
              </a:rPr>
              <a:t>Numpy</a:t>
            </a:r>
            <a:r>
              <a:rPr lang="en-US" sz="1800" b="0" i="0" u="none" strike="noStrike" baseline="0" dirty="0">
                <a:solidFill>
                  <a:srgbClr val="000000"/>
                </a:solidFill>
                <a:latin typeface="Times New Roman" panose="02020603050405020304" pitchFamily="18" charset="0"/>
              </a:rPr>
              <a:t> arrays. This is very good because it makes it easier to implement various functions in the same package </a:t>
            </a:r>
            <a:endParaRPr lang="en-IN" dirty="0"/>
          </a:p>
        </p:txBody>
      </p:sp>
    </p:spTree>
    <p:extLst>
      <p:ext uri="{BB962C8B-B14F-4D97-AF65-F5344CB8AC3E}">
        <p14:creationId xmlns:p14="http://schemas.microsoft.com/office/powerpoint/2010/main" val="9131957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34462-0879-6E42-7D0D-6F03CFF43BBA}"/>
              </a:ext>
            </a:extLst>
          </p:cNvPr>
          <p:cNvPicPr>
            <a:picLocks noChangeAspect="1"/>
          </p:cNvPicPr>
          <p:nvPr/>
        </p:nvPicPr>
        <p:blipFill>
          <a:blip r:embed="rId2"/>
          <a:stretch>
            <a:fillRect/>
          </a:stretch>
        </p:blipFill>
        <p:spPr>
          <a:xfrm>
            <a:off x="1027522" y="131197"/>
            <a:ext cx="9331660" cy="6071640"/>
          </a:xfrm>
          <a:prstGeom prst="rect">
            <a:avLst/>
          </a:prstGeom>
        </p:spPr>
      </p:pic>
    </p:spTree>
    <p:extLst>
      <p:ext uri="{BB962C8B-B14F-4D97-AF65-F5344CB8AC3E}">
        <p14:creationId xmlns:p14="http://schemas.microsoft.com/office/powerpoint/2010/main" val="3208133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EC9DB-914F-DA4D-ECC3-CA23C8F69216}"/>
              </a:ext>
            </a:extLst>
          </p:cNvPr>
          <p:cNvSpPr>
            <a:spLocks noGrp="1"/>
          </p:cNvSpPr>
          <p:nvPr>
            <p:ph type="title"/>
          </p:nvPr>
        </p:nvSpPr>
        <p:spPr/>
        <p:txBody>
          <a:bodyPr/>
          <a:lstStyle/>
          <a:p>
            <a:r>
              <a:rPr lang="en-IN" sz="3200" b="1" i="0" u="none" strike="noStrike" baseline="0" dirty="0">
                <a:solidFill>
                  <a:schemeClr val="accent4">
                    <a:lumMod val="40000"/>
                    <a:lumOff val="60000"/>
                  </a:schemeClr>
                </a:solidFill>
                <a:latin typeface="Times New Roman" panose="02020603050405020304" pitchFamily="18" charset="0"/>
              </a:rPr>
              <a:t>CHAPTER-6 SIMULATION RESULTS </a:t>
            </a:r>
            <a:endParaRPr lang="en-IN" sz="3200" dirty="0">
              <a:solidFill>
                <a:schemeClr val="accent4">
                  <a:lumMod val="40000"/>
                  <a:lumOff val="60000"/>
                </a:schemeClr>
              </a:solidFill>
            </a:endParaRPr>
          </a:p>
        </p:txBody>
      </p:sp>
      <p:sp>
        <p:nvSpPr>
          <p:cNvPr id="3" name="Content Placeholder 2">
            <a:extLst>
              <a:ext uri="{FF2B5EF4-FFF2-40B4-BE49-F238E27FC236}">
                <a16:creationId xmlns:a16="http://schemas.microsoft.com/office/drawing/2014/main" id="{B1E53EB0-BDD2-8CE8-07FF-EF52CC5936CD}"/>
              </a:ext>
            </a:extLst>
          </p:cNvPr>
          <p:cNvSpPr>
            <a:spLocks noGrp="1"/>
          </p:cNvSpPr>
          <p:nvPr>
            <p:ph idx="1"/>
          </p:nvPr>
        </p:nvSpPr>
        <p:spPr>
          <a:xfrm>
            <a:off x="1154954" y="2177592"/>
            <a:ext cx="8825659" cy="3842208"/>
          </a:xfrm>
        </p:spPr>
        <p:txBody>
          <a:bodyPr/>
          <a:lstStyle/>
          <a:p>
            <a:r>
              <a:rPr lang="en-US" sz="1800" b="0" i="0" u="none" strike="noStrike" baseline="0" dirty="0">
                <a:solidFill>
                  <a:srgbClr val="000000"/>
                </a:solidFill>
                <a:latin typeface="Times New Roman" panose="02020603050405020304" pitchFamily="18" charset="0"/>
              </a:rPr>
              <a:t>The proposed framework is executed using OpenCV software and the following figures show the images taken for the verification purpose. </a:t>
            </a:r>
            <a:endParaRPr lang="en-IN" dirty="0"/>
          </a:p>
        </p:txBody>
      </p:sp>
      <p:pic>
        <p:nvPicPr>
          <p:cNvPr id="7" name="Picture 6">
            <a:extLst>
              <a:ext uri="{FF2B5EF4-FFF2-40B4-BE49-F238E27FC236}">
                <a16:creationId xmlns:a16="http://schemas.microsoft.com/office/drawing/2014/main" id="{1F658AE8-EB66-96AB-05E6-B45CEFF7AFEE}"/>
              </a:ext>
            </a:extLst>
          </p:cNvPr>
          <p:cNvPicPr>
            <a:picLocks noChangeAspect="1"/>
          </p:cNvPicPr>
          <p:nvPr/>
        </p:nvPicPr>
        <p:blipFill>
          <a:blip r:embed="rId2"/>
          <a:stretch>
            <a:fillRect/>
          </a:stretch>
        </p:blipFill>
        <p:spPr>
          <a:xfrm>
            <a:off x="1000773" y="2921902"/>
            <a:ext cx="2421228" cy="2120630"/>
          </a:xfrm>
          <a:prstGeom prst="rect">
            <a:avLst/>
          </a:prstGeom>
        </p:spPr>
      </p:pic>
      <p:pic>
        <p:nvPicPr>
          <p:cNvPr id="9" name="Picture 8">
            <a:extLst>
              <a:ext uri="{FF2B5EF4-FFF2-40B4-BE49-F238E27FC236}">
                <a16:creationId xmlns:a16="http://schemas.microsoft.com/office/drawing/2014/main" id="{C3FC8AF5-841E-422E-A2C4-A8A5D85F4511}"/>
              </a:ext>
            </a:extLst>
          </p:cNvPr>
          <p:cNvPicPr>
            <a:picLocks noChangeAspect="1"/>
          </p:cNvPicPr>
          <p:nvPr/>
        </p:nvPicPr>
        <p:blipFill>
          <a:blip r:embed="rId3"/>
          <a:stretch>
            <a:fillRect/>
          </a:stretch>
        </p:blipFill>
        <p:spPr>
          <a:xfrm>
            <a:off x="3381992" y="2821383"/>
            <a:ext cx="2446986" cy="2211421"/>
          </a:xfrm>
          <a:prstGeom prst="rect">
            <a:avLst/>
          </a:prstGeom>
        </p:spPr>
      </p:pic>
      <p:pic>
        <p:nvPicPr>
          <p:cNvPr id="11" name="Picture 10">
            <a:extLst>
              <a:ext uri="{FF2B5EF4-FFF2-40B4-BE49-F238E27FC236}">
                <a16:creationId xmlns:a16="http://schemas.microsoft.com/office/drawing/2014/main" id="{4714D8CC-3448-07CA-3A7C-F799B6AEED2D}"/>
              </a:ext>
            </a:extLst>
          </p:cNvPr>
          <p:cNvPicPr>
            <a:picLocks noChangeAspect="1"/>
          </p:cNvPicPr>
          <p:nvPr/>
        </p:nvPicPr>
        <p:blipFill>
          <a:blip r:embed="rId4"/>
          <a:stretch>
            <a:fillRect/>
          </a:stretch>
        </p:blipFill>
        <p:spPr>
          <a:xfrm>
            <a:off x="6968710" y="2675468"/>
            <a:ext cx="2421228" cy="2367064"/>
          </a:xfrm>
          <a:prstGeom prst="rect">
            <a:avLst/>
          </a:prstGeom>
        </p:spPr>
      </p:pic>
      <p:pic>
        <p:nvPicPr>
          <p:cNvPr id="13" name="Picture 12">
            <a:extLst>
              <a:ext uri="{FF2B5EF4-FFF2-40B4-BE49-F238E27FC236}">
                <a16:creationId xmlns:a16="http://schemas.microsoft.com/office/drawing/2014/main" id="{ABF73D63-8AB8-D727-29B9-9884E6B1A112}"/>
              </a:ext>
            </a:extLst>
          </p:cNvPr>
          <p:cNvPicPr>
            <a:picLocks noChangeAspect="1"/>
          </p:cNvPicPr>
          <p:nvPr/>
        </p:nvPicPr>
        <p:blipFill>
          <a:blip r:embed="rId5"/>
          <a:stretch>
            <a:fillRect/>
          </a:stretch>
        </p:blipFill>
        <p:spPr>
          <a:xfrm>
            <a:off x="9215898" y="2685195"/>
            <a:ext cx="2395470" cy="2347609"/>
          </a:xfrm>
          <a:prstGeom prst="rect">
            <a:avLst/>
          </a:prstGeom>
        </p:spPr>
      </p:pic>
    </p:spTree>
    <p:extLst>
      <p:ext uri="{BB962C8B-B14F-4D97-AF65-F5344CB8AC3E}">
        <p14:creationId xmlns:p14="http://schemas.microsoft.com/office/powerpoint/2010/main" val="2951020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92F97-7A92-AC17-E557-3FE0B150A99F}"/>
              </a:ext>
            </a:extLst>
          </p:cNvPr>
          <p:cNvSpPr>
            <a:spLocks noGrp="1"/>
          </p:cNvSpPr>
          <p:nvPr>
            <p:ph type="title"/>
          </p:nvPr>
        </p:nvSpPr>
        <p:spPr/>
        <p:txBody>
          <a:bodyPr/>
          <a:lstStyle/>
          <a:p>
            <a:r>
              <a:rPr lang="en-IN" sz="3200" b="0" i="0" u="none" strike="noStrike" baseline="0" dirty="0">
                <a:solidFill>
                  <a:schemeClr val="accent4">
                    <a:lumMod val="40000"/>
                    <a:lumOff val="60000"/>
                  </a:schemeClr>
                </a:solidFill>
              </a:rPr>
              <a:t>CHAPTER-7 </a:t>
            </a:r>
            <a:br>
              <a:rPr lang="en-IN" sz="3200" b="0" i="0" u="none" strike="noStrike" baseline="0" dirty="0">
                <a:solidFill>
                  <a:schemeClr val="accent4">
                    <a:lumMod val="40000"/>
                    <a:lumOff val="60000"/>
                  </a:schemeClr>
                </a:solidFill>
              </a:rPr>
            </a:br>
            <a:r>
              <a:rPr lang="en-IN" sz="3200" b="0" i="0" u="none" strike="noStrike" baseline="0" dirty="0">
                <a:solidFill>
                  <a:schemeClr val="accent4">
                    <a:lumMod val="40000"/>
                    <a:lumOff val="60000"/>
                  </a:schemeClr>
                </a:solidFill>
              </a:rPr>
              <a:t>SAMPLE CODING </a:t>
            </a:r>
            <a:endParaRPr lang="en-IN" sz="3200" dirty="0">
              <a:solidFill>
                <a:schemeClr val="accent4">
                  <a:lumMod val="40000"/>
                  <a:lumOff val="60000"/>
                </a:schemeClr>
              </a:solidFill>
            </a:endParaRPr>
          </a:p>
        </p:txBody>
      </p:sp>
      <p:sp>
        <p:nvSpPr>
          <p:cNvPr id="3" name="Content Placeholder 2">
            <a:extLst>
              <a:ext uri="{FF2B5EF4-FFF2-40B4-BE49-F238E27FC236}">
                <a16:creationId xmlns:a16="http://schemas.microsoft.com/office/drawing/2014/main" id="{A83C50C9-8394-C5BE-6207-60C826588675}"/>
              </a:ext>
            </a:extLst>
          </p:cNvPr>
          <p:cNvSpPr>
            <a:spLocks noGrp="1"/>
          </p:cNvSpPr>
          <p:nvPr>
            <p:ph idx="1"/>
          </p:nvPr>
        </p:nvSpPr>
        <p:spPr>
          <a:xfrm>
            <a:off x="1154954" y="2300140"/>
            <a:ext cx="8825659" cy="3719660"/>
          </a:xfrm>
        </p:spPr>
        <p:txBody>
          <a:bodyPr>
            <a:normAutofit fontScale="77500" lnSpcReduction="20000"/>
          </a:bodyPr>
          <a:lstStyle/>
          <a:p>
            <a:r>
              <a:rPr lang="en-IN" sz="1800" b="0" i="0" u="none" strike="noStrike" baseline="0" dirty="0">
                <a:solidFill>
                  <a:srgbClr val="000000"/>
                </a:solidFill>
                <a:latin typeface="Times New Roman" panose="02020603050405020304" pitchFamily="18" charset="0"/>
              </a:rPr>
              <a:t># coding: utf-8 </a:t>
            </a:r>
          </a:p>
          <a:p>
            <a:r>
              <a:rPr lang="en-US" sz="1800" b="0" i="0" u="none" strike="noStrike" baseline="0" dirty="0">
                <a:solidFill>
                  <a:srgbClr val="000000"/>
                </a:solidFill>
                <a:latin typeface="Times New Roman" panose="02020603050405020304" pitchFamily="18" charset="0"/>
              </a:rPr>
              <a:t># # Face Detection In Python Using OpenCV </a:t>
            </a:r>
          </a:p>
          <a:p>
            <a:r>
              <a:rPr lang="en-IN" sz="1800" b="0" i="0" u="none" strike="noStrike" baseline="0" dirty="0">
                <a:solidFill>
                  <a:srgbClr val="000000"/>
                </a:solidFill>
                <a:latin typeface="Times New Roman" panose="02020603050405020304" pitchFamily="18" charset="0"/>
              </a:rPr>
              <a:t># ## OpenCV </a:t>
            </a:r>
          </a:p>
          <a:p>
            <a:r>
              <a:rPr lang="en-US" sz="1800" b="0" i="0" u="none" strike="noStrike" baseline="0" dirty="0">
                <a:solidFill>
                  <a:srgbClr val="000000"/>
                </a:solidFill>
                <a:latin typeface="Times New Roman" panose="02020603050405020304" pitchFamily="18" charset="0"/>
              </a:rPr>
              <a:t># OpenCV is an open source computer vision and machine learning software library. It is a BSD-</a:t>
            </a:r>
            <a:r>
              <a:rPr lang="en-US" sz="1800" b="0" i="0" u="none" strike="noStrike" baseline="0" dirty="0" err="1">
                <a:solidFill>
                  <a:srgbClr val="000000"/>
                </a:solidFill>
                <a:latin typeface="Times New Roman" panose="02020603050405020304" pitchFamily="18" charset="0"/>
              </a:rPr>
              <a:t>licence</a:t>
            </a:r>
            <a:r>
              <a:rPr lang="en-US" sz="1800" b="0" i="0" u="none" strike="noStrike" baseline="0" dirty="0">
                <a:solidFill>
                  <a:srgbClr val="000000"/>
                </a:solidFill>
                <a:latin typeface="Times New Roman" panose="02020603050405020304" pitchFamily="18" charset="0"/>
              </a:rPr>
              <a:t> product thus </a:t>
            </a:r>
          </a:p>
          <a:p>
            <a:r>
              <a:rPr lang="en-US" sz="1800" b="0" i="0" u="none" strike="noStrike" baseline="0" dirty="0">
                <a:solidFill>
                  <a:srgbClr val="000000"/>
                </a:solidFill>
                <a:latin typeface="Times New Roman" panose="02020603050405020304" pitchFamily="18" charset="0"/>
              </a:rPr>
              <a:t># free for both business and academic </a:t>
            </a:r>
            <a:r>
              <a:rPr lang="en-US" sz="1800" b="0" i="0" u="none" strike="noStrike" baseline="0" dirty="0" err="1">
                <a:solidFill>
                  <a:srgbClr val="000000"/>
                </a:solidFill>
                <a:latin typeface="Times New Roman" panose="02020603050405020304" pitchFamily="18" charset="0"/>
              </a:rPr>
              <a:t>purposes.The</a:t>
            </a:r>
            <a:r>
              <a:rPr lang="en-US" sz="1800" b="0" i="0" u="none" strike="noStrike" baseline="0" dirty="0">
                <a:solidFill>
                  <a:srgbClr val="000000"/>
                </a:solidFill>
                <a:latin typeface="Times New Roman" panose="02020603050405020304" pitchFamily="18" charset="0"/>
              </a:rPr>
              <a:t> Library provides more than 2500 algorithms that include machine </a:t>
            </a:r>
          </a:p>
          <a:p>
            <a:r>
              <a:rPr lang="en-US" sz="1800" b="0" i="0" u="none" strike="noStrike" baseline="0" dirty="0">
                <a:solidFill>
                  <a:srgbClr val="000000"/>
                </a:solidFill>
                <a:latin typeface="Times New Roman" panose="02020603050405020304" pitchFamily="18" charset="0"/>
              </a:rPr>
              <a:t># learning tools for classification and clustering, image processing and vision algorithm, basic algorithms and </a:t>
            </a:r>
          </a:p>
          <a:p>
            <a:r>
              <a:rPr lang="en-US" sz="1800" b="0" i="0" u="none" strike="noStrike" baseline="0" dirty="0">
                <a:solidFill>
                  <a:srgbClr val="000000"/>
                </a:solidFill>
                <a:latin typeface="Times New Roman" panose="02020603050405020304" pitchFamily="18" charset="0"/>
              </a:rPr>
              <a:t># drawing functions, GUI and I/O functions for images and videos. Some applications of these algorithms include face </a:t>
            </a:r>
          </a:p>
          <a:p>
            <a:r>
              <a:rPr lang="en-IN" sz="1800" b="0" i="0" u="none" strike="noStrike" baseline="0" dirty="0">
                <a:solidFill>
                  <a:srgbClr val="000000"/>
                </a:solidFill>
                <a:latin typeface="Times New Roman" panose="02020603050405020304" pitchFamily="18" charset="0"/>
              </a:rPr>
              <a:t># detection, object recognition, extracting 3D models, image processing, camera calibration, motion analysis etc. </a:t>
            </a:r>
          </a:p>
          <a:p>
            <a:r>
              <a:rPr lang="en-US" sz="1800" b="0" i="0" u="none" strike="noStrike" baseline="0" dirty="0">
                <a:solidFill>
                  <a:srgbClr val="000000"/>
                </a:solidFill>
                <a:latin typeface="Times New Roman" panose="02020603050405020304" pitchFamily="18" charset="0"/>
              </a:rPr>
              <a:t># OpenCV is written natively in C/C++. It has C++, C, Python and Java interfaces and supports Windows, Linux, Mac OS, </a:t>
            </a:r>
            <a:endParaRPr lang="en-IN" dirty="0"/>
          </a:p>
        </p:txBody>
      </p:sp>
    </p:spTree>
    <p:extLst>
      <p:ext uri="{BB962C8B-B14F-4D97-AF65-F5344CB8AC3E}">
        <p14:creationId xmlns:p14="http://schemas.microsoft.com/office/powerpoint/2010/main" val="2614080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620EC-BA76-3DEC-E0B2-AF0E62542B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9D2AFD7-2EE3-3DF7-F236-6AC62C2A52B3}"/>
              </a:ext>
            </a:extLst>
          </p:cNvPr>
          <p:cNvSpPr>
            <a:spLocks noGrp="1"/>
          </p:cNvSpPr>
          <p:nvPr>
            <p:ph idx="1"/>
          </p:nvPr>
        </p:nvSpPr>
        <p:spPr/>
        <p:txBody>
          <a:bodyPr/>
          <a:lstStyle/>
          <a:p>
            <a:r>
              <a:rPr lang="en-US" sz="1800" b="0" i="0" u="none" strike="noStrike" baseline="0" dirty="0">
                <a:solidFill>
                  <a:srgbClr val="000000"/>
                </a:solidFill>
                <a:latin typeface="Times New Roman" panose="02020603050405020304" pitchFamily="18" charset="0"/>
              </a:rPr>
              <a:t>The algorithm has four stages: </a:t>
            </a:r>
          </a:p>
          <a:p>
            <a:r>
              <a:rPr lang="en-IN" sz="1800" b="0" i="0" u="none" strike="noStrike" baseline="0" dirty="0">
                <a:solidFill>
                  <a:srgbClr val="000000"/>
                </a:solidFill>
                <a:latin typeface="Times New Roman" panose="02020603050405020304" pitchFamily="18" charset="0"/>
              </a:rPr>
              <a:t>1. *</a:t>
            </a:r>
            <a:r>
              <a:rPr lang="en-IN" sz="1800" b="0" i="0" u="none" strike="noStrike" baseline="0" dirty="0" err="1">
                <a:solidFill>
                  <a:srgbClr val="000000"/>
                </a:solidFill>
                <a:latin typeface="Times New Roman" panose="02020603050405020304" pitchFamily="18" charset="0"/>
              </a:rPr>
              <a:t>Haar</a:t>
            </a:r>
            <a:r>
              <a:rPr lang="en-IN" sz="1800" b="0" i="0" u="none" strike="noStrike" baseline="0" dirty="0">
                <a:solidFill>
                  <a:srgbClr val="000000"/>
                </a:solidFill>
                <a:latin typeface="Times New Roman" panose="02020603050405020304" pitchFamily="18" charset="0"/>
              </a:rPr>
              <a:t> Feature Selection:* </a:t>
            </a:r>
          </a:p>
          <a:p>
            <a:r>
              <a:rPr lang="en-IN" sz="1800" b="0" i="0" u="none" strike="noStrike" baseline="0" dirty="0">
                <a:solidFill>
                  <a:srgbClr val="000000"/>
                </a:solidFill>
                <a:latin typeface="Times New Roman" panose="02020603050405020304" pitchFamily="18" charset="0"/>
              </a:rPr>
              <a:t>2.Creating an  Integral Image </a:t>
            </a:r>
          </a:p>
          <a:p>
            <a:r>
              <a:rPr lang="en-IN" dirty="0">
                <a:solidFill>
                  <a:srgbClr val="000000"/>
                </a:solidFill>
                <a:latin typeface="Times New Roman" panose="02020603050405020304" pitchFamily="18" charset="0"/>
              </a:rPr>
              <a:t>3.</a:t>
            </a:r>
            <a:r>
              <a:rPr lang="en-IN" sz="1800" b="0" i="0" u="none" strike="noStrike" baseline="0" dirty="0">
                <a:solidFill>
                  <a:srgbClr val="000000"/>
                </a:solidFill>
                <a:latin typeface="Times New Roman" panose="02020603050405020304" pitchFamily="18" charset="0"/>
              </a:rPr>
              <a:t> </a:t>
            </a:r>
            <a:r>
              <a:rPr lang="en-IN" sz="1800" b="0" i="0" u="none" strike="noStrike" baseline="0" dirty="0" err="1">
                <a:solidFill>
                  <a:srgbClr val="000000"/>
                </a:solidFill>
                <a:latin typeface="Times New Roman" panose="02020603050405020304" pitchFamily="18" charset="0"/>
              </a:rPr>
              <a:t>Adaboost</a:t>
            </a:r>
            <a:r>
              <a:rPr lang="en-IN" sz="1800" b="0" i="0" u="none" strike="noStrike" baseline="0" dirty="0">
                <a:solidFill>
                  <a:srgbClr val="000000"/>
                </a:solidFill>
                <a:latin typeface="Times New Roman" panose="02020603050405020304" pitchFamily="18" charset="0"/>
              </a:rPr>
              <a:t> </a:t>
            </a:r>
            <a:endParaRPr lang="en-IN" dirty="0">
              <a:solidFill>
                <a:srgbClr val="000000"/>
              </a:solidFill>
              <a:latin typeface="Times New Roman" panose="02020603050405020304" pitchFamily="18" charset="0"/>
            </a:endParaRPr>
          </a:p>
          <a:p>
            <a:r>
              <a:rPr lang="en-IN" sz="1800" b="0" i="0" u="none" strike="noStrike" baseline="0" dirty="0">
                <a:solidFill>
                  <a:srgbClr val="000000"/>
                </a:solidFill>
                <a:latin typeface="Times New Roman" panose="02020603050405020304" pitchFamily="18" charset="0"/>
              </a:rPr>
              <a:t>4.Cascading Classifiers </a:t>
            </a:r>
            <a:endParaRPr lang="en-IN" dirty="0"/>
          </a:p>
        </p:txBody>
      </p:sp>
    </p:spTree>
    <p:extLst>
      <p:ext uri="{BB962C8B-B14F-4D97-AF65-F5344CB8AC3E}">
        <p14:creationId xmlns:p14="http://schemas.microsoft.com/office/powerpoint/2010/main" val="4438967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5695F-1AA9-1243-AAA2-7AB34E8CAB73}"/>
              </a:ext>
            </a:extLst>
          </p:cNvPr>
          <p:cNvSpPr>
            <a:spLocks noGrp="1"/>
          </p:cNvSpPr>
          <p:nvPr>
            <p:ph type="title"/>
          </p:nvPr>
        </p:nvSpPr>
        <p:spPr/>
        <p:txBody>
          <a:bodyPr/>
          <a:lstStyle/>
          <a:p>
            <a:r>
              <a:rPr lang="en-IN" sz="2800" b="1" i="0" u="none" strike="noStrike" baseline="0" dirty="0">
                <a:solidFill>
                  <a:schemeClr val="accent4">
                    <a:lumMod val="40000"/>
                    <a:lumOff val="60000"/>
                  </a:schemeClr>
                </a:solidFill>
                <a:latin typeface="Times New Roman" panose="02020603050405020304" pitchFamily="18" charset="0"/>
              </a:rPr>
              <a:t>CHAPTER-8 </a:t>
            </a:r>
            <a:br>
              <a:rPr lang="en-IN" sz="2800" b="0" i="0" u="none" strike="noStrike" baseline="0" dirty="0">
                <a:solidFill>
                  <a:schemeClr val="accent4">
                    <a:lumMod val="40000"/>
                    <a:lumOff val="60000"/>
                  </a:schemeClr>
                </a:solidFill>
                <a:latin typeface="Times New Roman" panose="02020603050405020304" pitchFamily="18" charset="0"/>
              </a:rPr>
            </a:br>
            <a:r>
              <a:rPr lang="en-IN" sz="2800" b="1" i="0" u="none" strike="noStrike" baseline="0" dirty="0">
                <a:solidFill>
                  <a:schemeClr val="accent4">
                    <a:lumMod val="40000"/>
                    <a:lumOff val="60000"/>
                  </a:schemeClr>
                </a:solidFill>
                <a:latin typeface="Times New Roman" panose="02020603050405020304" pitchFamily="18" charset="0"/>
              </a:rPr>
              <a:t>CONCLUSION &amp; FUTURE WORK </a:t>
            </a:r>
            <a:endParaRPr lang="en-IN" sz="2800" dirty="0">
              <a:solidFill>
                <a:schemeClr val="accent4">
                  <a:lumMod val="40000"/>
                  <a:lumOff val="60000"/>
                </a:schemeClr>
              </a:solidFill>
            </a:endParaRPr>
          </a:p>
        </p:txBody>
      </p:sp>
      <p:sp>
        <p:nvSpPr>
          <p:cNvPr id="3" name="Content Placeholder 2">
            <a:extLst>
              <a:ext uri="{FF2B5EF4-FFF2-40B4-BE49-F238E27FC236}">
                <a16:creationId xmlns:a16="http://schemas.microsoft.com/office/drawing/2014/main" id="{42EE6493-ECA9-EF74-CAB9-DAB05843A90A}"/>
              </a:ext>
            </a:extLst>
          </p:cNvPr>
          <p:cNvSpPr>
            <a:spLocks noGrp="1"/>
          </p:cNvSpPr>
          <p:nvPr>
            <p:ph idx="1"/>
          </p:nvPr>
        </p:nvSpPr>
        <p:spPr/>
        <p:txBody>
          <a:bodyPr/>
          <a:lstStyle/>
          <a:p>
            <a:pPr marL="0" indent="0">
              <a:buNone/>
            </a:pPr>
            <a:r>
              <a:rPr lang="en-US" sz="1800" b="0" i="0" u="none" strike="noStrike" baseline="0" dirty="0">
                <a:solidFill>
                  <a:srgbClr val="000000"/>
                </a:solidFill>
                <a:latin typeface="Times New Roman" panose="02020603050405020304" pitchFamily="18" charset="0"/>
              </a:rPr>
              <a:t>Computer Vision is a field of artificial intelligence that focuses on the processing of images and videos. It involves developing computers that can extract the most important details from the images. The OpenCV library, which is a C++based open-source project, provides various functions for developing computer vision applications. Some of these include object detection, facial recognition, and medical diagnosis. In this work, we discuss the various functions of OpenCV in face recognition and object detection. We show how the library can be used to develop effective face recognition and object detection algorithms. We then introduce the OpenCV modules and their applications, and we discuss the various literature reviews that have been published about the library. We then conclude by talking about the human face that can be recognized using the OpenCV platform. </a:t>
            </a:r>
            <a:endParaRPr lang="en-IN" dirty="0"/>
          </a:p>
        </p:txBody>
      </p:sp>
    </p:spTree>
    <p:extLst>
      <p:ext uri="{BB962C8B-B14F-4D97-AF65-F5344CB8AC3E}">
        <p14:creationId xmlns:p14="http://schemas.microsoft.com/office/powerpoint/2010/main" val="25412567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304D6-E9B1-3BCD-BD71-93B7C8C922B8}"/>
              </a:ext>
            </a:extLst>
          </p:cNvPr>
          <p:cNvSpPr>
            <a:spLocks noGrp="1"/>
          </p:cNvSpPr>
          <p:nvPr>
            <p:ph type="title"/>
          </p:nvPr>
        </p:nvSpPr>
        <p:spPr/>
        <p:txBody>
          <a:bodyPr/>
          <a:lstStyle/>
          <a:p>
            <a:r>
              <a:rPr lang="en-IN" sz="3200" b="1" i="0" u="none" strike="noStrike" baseline="0" dirty="0">
                <a:solidFill>
                  <a:schemeClr val="accent4">
                    <a:lumMod val="40000"/>
                    <a:lumOff val="60000"/>
                  </a:schemeClr>
                </a:solidFill>
                <a:latin typeface="Times New Roman" panose="02020603050405020304" pitchFamily="18" charset="0"/>
              </a:rPr>
              <a:t>REFERENCES </a:t>
            </a:r>
            <a:endParaRPr lang="en-IN" sz="3200" dirty="0">
              <a:solidFill>
                <a:schemeClr val="accent4">
                  <a:lumMod val="40000"/>
                  <a:lumOff val="60000"/>
                </a:schemeClr>
              </a:solidFill>
            </a:endParaRPr>
          </a:p>
        </p:txBody>
      </p:sp>
      <p:sp>
        <p:nvSpPr>
          <p:cNvPr id="3" name="Content Placeholder 2">
            <a:extLst>
              <a:ext uri="{FF2B5EF4-FFF2-40B4-BE49-F238E27FC236}">
                <a16:creationId xmlns:a16="http://schemas.microsoft.com/office/drawing/2014/main" id="{9596BFB4-47BA-5D6F-019E-8FDFCED7B559}"/>
              </a:ext>
            </a:extLst>
          </p:cNvPr>
          <p:cNvSpPr>
            <a:spLocks noGrp="1"/>
          </p:cNvSpPr>
          <p:nvPr>
            <p:ph idx="1"/>
          </p:nvPr>
        </p:nvSpPr>
        <p:spPr/>
        <p:txBody>
          <a:bodyPr>
            <a:normAutofit fontScale="92500" lnSpcReduction="20000"/>
          </a:bodyPr>
          <a:lstStyle/>
          <a:p>
            <a:pPr algn="l"/>
            <a:endParaRPr lang="en-IN" sz="1800" b="0" i="0" u="none" strike="noStrike" baseline="0" dirty="0">
              <a:solidFill>
                <a:srgbClr val="000000"/>
              </a:solidFill>
              <a:latin typeface="Times New Roman" panose="02020603050405020304" pitchFamily="18" charset="0"/>
            </a:endParaRPr>
          </a:p>
          <a:p>
            <a:r>
              <a:rPr lang="en-IN" sz="1800" b="0" i="0" u="none" strike="noStrike" baseline="0" dirty="0">
                <a:solidFill>
                  <a:srgbClr val="000000"/>
                </a:solidFill>
                <a:latin typeface="Times New Roman" panose="02020603050405020304" pitchFamily="18" charset="0"/>
              </a:rPr>
              <a:t>[1] Jagtap, A. M., </a:t>
            </a:r>
            <a:r>
              <a:rPr lang="en-IN" sz="1800" b="0" i="0" u="none" strike="noStrike" baseline="0" dirty="0" err="1">
                <a:solidFill>
                  <a:srgbClr val="000000"/>
                </a:solidFill>
                <a:latin typeface="Times New Roman" panose="02020603050405020304" pitchFamily="18" charset="0"/>
              </a:rPr>
              <a:t>Kangale</a:t>
            </a:r>
            <a:r>
              <a:rPr lang="en-IN" sz="1800" b="0" i="0" u="none" strike="noStrike" baseline="0" dirty="0">
                <a:solidFill>
                  <a:srgbClr val="000000"/>
                </a:solidFill>
                <a:latin typeface="Times New Roman" panose="02020603050405020304" pitchFamily="18" charset="0"/>
              </a:rPr>
              <a:t>, V., </a:t>
            </a:r>
            <a:r>
              <a:rPr lang="en-IN" sz="1800" b="0" i="0" u="none" strike="noStrike" baseline="0" dirty="0" err="1">
                <a:solidFill>
                  <a:srgbClr val="000000"/>
                </a:solidFill>
                <a:latin typeface="Times New Roman" panose="02020603050405020304" pitchFamily="18" charset="0"/>
              </a:rPr>
              <a:t>Unune</a:t>
            </a:r>
            <a:r>
              <a:rPr lang="en-IN" sz="1800" b="0" i="0" u="none" strike="noStrike" baseline="0" dirty="0">
                <a:solidFill>
                  <a:srgbClr val="000000"/>
                </a:solidFill>
                <a:latin typeface="Times New Roman" panose="02020603050405020304" pitchFamily="18" charset="0"/>
              </a:rPr>
              <a:t>, K., &amp;</a:t>
            </a:r>
            <a:r>
              <a:rPr lang="en-IN" sz="1800" b="0" i="0" u="none" strike="noStrike" baseline="0" dirty="0" err="1">
                <a:solidFill>
                  <a:srgbClr val="000000"/>
                </a:solidFill>
                <a:latin typeface="Times New Roman" panose="02020603050405020304" pitchFamily="18" charset="0"/>
              </a:rPr>
              <a:t>Gosavi</a:t>
            </a:r>
            <a:r>
              <a:rPr lang="en-IN" sz="1800" b="0" i="0" u="none" strike="noStrike" baseline="0" dirty="0">
                <a:solidFill>
                  <a:srgbClr val="000000"/>
                </a:solidFill>
                <a:latin typeface="Times New Roman" panose="02020603050405020304" pitchFamily="18" charset="0"/>
              </a:rPr>
              <a:t>, P. (2019, February). A Study of LBPH, Eigenface, </a:t>
            </a:r>
            <a:r>
              <a:rPr lang="en-IN" sz="1800" b="0" i="0" u="none" strike="noStrike" baseline="0" dirty="0" err="1">
                <a:solidFill>
                  <a:srgbClr val="000000"/>
                </a:solidFill>
                <a:latin typeface="Times New Roman" panose="02020603050405020304" pitchFamily="18" charset="0"/>
              </a:rPr>
              <a:t>Fisherface</a:t>
            </a:r>
            <a:r>
              <a:rPr lang="en-IN" sz="1800" b="0" i="0" u="none" strike="noStrike" baseline="0" dirty="0">
                <a:solidFill>
                  <a:srgbClr val="000000"/>
                </a:solidFill>
                <a:latin typeface="Times New Roman" panose="02020603050405020304" pitchFamily="18" charset="0"/>
              </a:rPr>
              <a:t> and </a:t>
            </a:r>
            <a:r>
              <a:rPr lang="en-IN" sz="1800" b="0" i="0" u="none" strike="noStrike" baseline="0" dirty="0" err="1">
                <a:solidFill>
                  <a:srgbClr val="000000"/>
                </a:solidFill>
                <a:latin typeface="Times New Roman" panose="02020603050405020304" pitchFamily="18" charset="0"/>
              </a:rPr>
              <a:t>Haar</a:t>
            </a:r>
            <a:r>
              <a:rPr lang="en-IN" sz="1800" b="0" i="0" u="none" strike="noStrike" baseline="0" dirty="0">
                <a:solidFill>
                  <a:srgbClr val="000000"/>
                </a:solidFill>
                <a:latin typeface="Times New Roman" panose="02020603050405020304" pitchFamily="18" charset="0"/>
              </a:rPr>
              <a:t>-like features for Face recognition using OpenCV. In 2019 International Conference on Intelligent Sustainable Systems (ICISS) (pp. 219-224). IEEE </a:t>
            </a:r>
          </a:p>
          <a:p>
            <a:r>
              <a:rPr lang="en-US" sz="1800" b="0" i="0" u="none" strike="noStrike" baseline="0" dirty="0">
                <a:solidFill>
                  <a:srgbClr val="000000"/>
                </a:solidFill>
                <a:latin typeface="Times New Roman" panose="02020603050405020304" pitchFamily="18" charset="0"/>
              </a:rPr>
              <a:t>[2] </a:t>
            </a:r>
            <a:r>
              <a:rPr lang="en-US" sz="1800" b="0" i="0" u="none" strike="noStrike" baseline="0" dirty="0" err="1">
                <a:solidFill>
                  <a:srgbClr val="000000"/>
                </a:solidFill>
                <a:latin typeface="Times New Roman" panose="02020603050405020304" pitchFamily="18" charset="0"/>
              </a:rPr>
              <a:t>Sigut</a:t>
            </a:r>
            <a:r>
              <a:rPr lang="en-US" sz="1800" b="0" i="0" u="none" strike="noStrike" baseline="0" dirty="0">
                <a:solidFill>
                  <a:srgbClr val="000000"/>
                </a:solidFill>
                <a:latin typeface="Times New Roman" panose="02020603050405020304" pitchFamily="18" charset="0"/>
              </a:rPr>
              <a:t>, J., Castro, M., </a:t>
            </a:r>
            <a:r>
              <a:rPr lang="en-US" sz="1800" b="0" i="0" u="none" strike="noStrike" baseline="0" dirty="0" err="1">
                <a:solidFill>
                  <a:srgbClr val="000000"/>
                </a:solidFill>
                <a:latin typeface="Times New Roman" panose="02020603050405020304" pitchFamily="18" charset="0"/>
              </a:rPr>
              <a:t>Arnay</a:t>
            </a:r>
            <a:r>
              <a:rPr lang="en-US" sz="1800" b="0" i="0" u="none" strike="noStrike" baseline="0" dirty="0">
                <a:solidFill>
                  <a:srgbClr val="000000"/>
                </a:solidFill>
                <a:latin typeface="Times New Roman" panose="02020603050405020304" pitchFamily="18" charset="0"/>
              </a:rPr>
              <a:t>, R., &amp;</a:t>
            </a:r>
            <a:r>
              <a:rPr lang="en-US" sz="1800" b="0" i="0" u="none" strike="noStrike" baseline="0" dirty="0" err="1">
                <a:solidFill>
                  <a:srgbClr val="000000"/>
                </a:solidFill>
                <a:latin typeface="Times New Roman" panose="02020603050405020304" pitchFamily="18" charset="0"/>
              </a:rPr>
              <a:t>Sigut</a:t>
            </a:r>
            <a:r>
              <a:rPr lang="en-US" sz="1800" b="0" i="0" u="none" strike="noStrike" baseline="0" dirty="0">
                <a:solidFill>
                  <a:srgbClr val="000000"/>
                </a:solidFill>
                <a:latin typeface="Times New Roman" panose="02020603050405020304" pitchFamily="18" charset="0"/>
              </a:rPr>
              <a:t>, M. (2020). OpenCV basics: a mobile application to support the teaching of computer vision concepts. IEEE Transactions on Education, 63(4), 328-335 </a:t>
            </a:r>
          </a:p>
          <a:p>
            <a:r>
              <a:rPr lang="en-IN" sz="1800" b="0" i="0" u="none" strike="noStrike" baseline="0" dirty="0">
                <a:solidFill>
                  <a:srgbClr val="000000"/>
                </a:solidFill>
                <a:latin typeface="Times New Roman" panose="02020603050405020304" pitchFamily="18" charset="0"/>
              </a:rPr>
              <a:t>[3] </a:t>
            </a:r>
            <a:r>
              <a:rPr lang="en-IN" sz="1800" b="0" i="0" u="none" strike="noStrike" baseline="0" dirty="0" err="1">
                <a:solidFill>
                  <a:srgbClr val="000000"/>
                </a:solidFill>
                <a:latin typeface="Times New Roman" panose="02020603050405020304" pitchFamily="18" charset="0"/>
              </a:rPr>
              <a:t>Adusumalli</a:t>
            </a:r>
            <a:r>
              <a:rPr lang="en-IN" sz="1800" b="0" i="0" u="none" strike="noStrike" baseline="0" dirty="0">
                <a:solidFill>
                  <a:srgbClr val="000000"/>
                </a:solidFill>
                <a:latin typeface="Times New Roman" panose="02020603050405020304" pitchFamily="18" charset="0"/>
              </a:rPr>
              <a:t>, H., Kalyani, D., Sri, R. K., </a:t>
            </a:r>
            <a:r>
              <a:rPr lang="en-IN" sz="1800" b="0" i="0" u="none" strike="noStrike" baseline="0" dirty="0" err="1">
                <a:solidFill>
                  <a:srgbClr val="000000"/>
                </a:solidFill>
                <a:latin typeface="Times New Roman" panose="02020603050405020304" pitchFamily="18" charset="0"/>
              </a:rPr>
              <a:t>Pratapteja</a:t>
            </a:r>
            <a:r>
              <a:rPr lang="en-IN" sz="1800" b="0" i="0" u="none" strike="noStrike" baseline="0" dirty="0">
                <a:solidFill>
                  <a:srgbClr val="000000"/>
                </a:solidFill>
                <a:latin typeface="Times New Roman" panose="02020603050405020304" pitchFamily="18" charset="0"/>
              </a:rPr>
              <a:t>, M., &amp; Rao, P. P. (2021, February). Face Mask Detection Using OpenCV. In 2021 Third International Conference on Intelligent Communication Technologies and Virtual Mobile Networks (ICICV) (pp. 1304-1309). IEEE </a:t>
            </a:r>
          </a:p>
          <a:p>
            <a:r>
              <a:rPr lang="en-IN" sz="1800" b="0" i="0" u="none" strike="noStrike" baseline="0" dirty="0">
                <a:solidFill>
                  <a:srgbClr val="000000"/>
                </a:solidFill>
                <a:latin typeface="Times New Roman" panose="02020603050405020304" pitchFamily="18" charset="0"/>
              </a:rPr>
              <a:t>[4] Mostafa, S. A., Mustapha, A., Gunasekaran, S. S., Ahmad, M. S., Mohammed, M. A., </a:t>
            </a:r>
            <a:r>
              <a:rPr lang="en-IN" sz="1800" b="0" i="0" u="none" strike="noStrike" baseline="0" dirty="0" err="1">
                <a:solidFill>
                  <a:srgbClr val="000000"/>
                </a:solidFill>
                <a:latin typeface="Times New Roman" panose="02020603050405020304" pitchFamily="18" charset="0"/>
              </a:rPr>
              <a:t>Parwekar</a:t>
            </a:r>
            <a:r>
              <a:rPr lang="en-IN" sz="1800" b="0" i="0" u="none" strike="noStrike" baseline="0" dirty="0">
                <a:solidFill>
                  <a:srgbClr val="000000"/>
                </a:solidFill>
                <a:latin typeface="Times New Roman" panose="02020603050405020304" pitchFamily="18" charset="0"/>
              </a:rPr>
              <a:t>, P., &amp;</a:t>
            </a:r>
            <a:r>
              <a:rPr lang="en-IN" sz="1800" b="0" i="0" u="none" strike="noStrike" baseline="0" dirty="0" err="1">
                <a:solidFill>
                  <a:srgbClr val="000000"/>
                </a:solidFill>
                <a:latin typeface="Times New Roman" panose="02020603050405020304" pitchFamily="18" charset="0"/>
              </a:rPr>
              <a:t>Kadry</a:t>
            </a:r>
            <a:r>
              <a:rPr lang="en-IN" sz="1800" b="0" i="0" u="none" strike="noStrike" baseline="0" dirty="0">
                <a:solidFill>
                  <a:srgbClr val="000000"/>
                </a:solidFill>
                <a:latin typeface="Times New Roman" panose="02020603050405020304" pitchFamily="18" charset="0"/>
              </a:rPr>
              <a:t>, S. (2021). An agent architecture for autonomous UAV flight control in object classification and recognition missions. Soft Computing, 1-14 </a:t>
            </a:r>
          </a:p>
          <a:p>
            <a:endParaRPr lang="en-IN" dirty="0"/>
          </a:p>
        </p:txBody>
      </p:sp>
    </p:spTree>
    <p:extLst>
      <p:ext uri="{BB962C8B-B14F-4D97-AF65-F5344CB8AC3E}">
        <p14:creationId xmlns:p14="http://schemas.microsoft.com/office/powerpoint/2010/main" val="1325473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C6665-393D-8A9E-29CC-B1C027D59A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84241BE-B721-E06D-5B39-49B2C77F1F5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0758130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87</TotalTime>
  <Words>3373</Words>
  <Application>Microsoft Office PowerPoint</Application>
  <PresentationFormat>Widescreen</PresentationFormat>
  <Paragraphs>149</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Century Gothic</vt:lpstr>
      <vt:lpstr>Times New Roman</vt:lpstr>
      <vt:lpstr>Wingdings</vt:lpstr>
      <vt:lpstr>Wingdings 3</vt:lpstr>
      <vt:lpstr>Ion Boardroom</vt:lpstr>
      <vt:lpstr>Real Time Face Detection and Face Recognition using OpenCV and Python</vt:lpstr>
      <vt:lpstr>Chapters</vt:lpstr>
      <vt:lpstr>CHAPTER - 1  INTRODUCTION TO IMAGE PROCESSING </vt:lpstr>
      <vt:lpstr>PowerPoint Presentation</vt:lpstr>
      <vt:lpstr>PowerPoint Presentation</vt:lpstr>
      <vt:lpstr>Aspects of image processing </vt:lpstr>
      <vt:lpstr>An image processing task </vt:lpstr>
      <vt:lpstr> Types of digital images   </vt:lpstr>
      <vt:lpstr>PowerPoint Presentation</vt:lpstr>
      <vt:lpstr>PowerPoint Presentation</vt:lpstr>
      <vt:lpstr> Image Acquisition   </vt:lpstr>
      <vt:lpstr> EDGE DETECTION TECHNIQUES    </vt:lpstr>
      <vt:lpstr>PowerPoint Presentation</vt:lpstr>
      <vt:lpstr>PowerPoint Presentation</vt:lpstr>
      <vt:lpstr>CHAPTER-2 FACE DETECTION </vt:lpstr>
      <vt:lpstr>PowerPoint Presentation</vt:lpstr>
      <vt:lpstr>PowerPoint Presentation</vt:lpstr>
      <vt:lpstr>PowerPoint Presentation</vt:lpstr>
      <vt:lpstr>CHAPTER-3 RELATED WORK </vt:lpstr>
      <vt:lpstr>PowerPoint Presentation</vt:lpstr>
      <vt:lpstr>PowerPoint Presentation</vt:lpstr>
      <vt:lpstr>Kanade Lucas Tomasi (KLT) algorithm </vt:lpstr>
      <vt:lpstr>Viola Jones algorithm </vt:lpstr>
      <vt:lpstr>Viola Jones algorithm </vt:lpstr>
      <vt:lpstr>CHAPTER-4 PROPOSED FRAMEWORK </vt:lpstr>
      <vt:lpstr> Haar Cascade   </vt:lpstr>
      <vt:lpstr> Local Binary Pattern    </vt:lpstr>
      <vt:lpstr>PowerPoint Presentation</vt:lpstr>
      <vt:lpstr> LBPH     </vt:lpstr>
      <vt:lpstr>      YOLO</vt:lpstr>
      <vt:lpstr> Single Shot Detectors (SSDs)     </vt:lpstr>
      <vt:lpstr>CHAPTER-5 SOFTWARE USED </vt:lpstr>
      <vt:lpstr>PowerPoint Presentation</vt:lpstr>
      <vt:lpstr>OpenCV based on Python  </vt:lpstr>
      <vt:lpstr>PowerPoint Presentation</vt:lpstr>
      <vt:lpstr>CHAPTER-6 SIMULATION RESULTS </vt:lpstr>
      <vt:lpstr>CHAPTER-7  SAMPLE CODING </vt:lpstr>
      <vt:lpstr>PowerPoint Presentation</vt:lpstr>
      <vt:lpstr>CHAPTER-8  CONCLUSION &amp; FUTURE WORK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Time Face Detection and Face Recognition using OpenCV and Python</dc:title>
  <dc:creator>Datta Sai Teja Tadi</dc:creator>
  <cp:lastModifiedBy>Datta Sai Teja Tadi</cp:lastModifiedBy>
  <cp:revision>1</cp:revision>
  <dcterms:created xsi:type="dcterms:W3CDTF">2022-08-22T07:11:43Z</dcterms:created>
  <dcterms:modified xsi:type="dcterms:W3CDTF">2022-08-22T08:39:04Z</dcterms:modified>
</cp:coreProperties>
</file>